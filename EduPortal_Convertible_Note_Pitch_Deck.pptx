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6b6d0a80fc4f1f" /><Relationship Type="http://schemas.openxmlformats.org/officeDocument/2006/relationships/extended-properties" Target="/docProps/app.xml" Id="R8cf751fa1a5c4502" /><Relationship Type="http://schemas.openxmlformats.org/officeDocument/2006/relationships/officeDocument" Target="/ppt/presentation.xml" Id="R1af23cbb703442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1f2d78207246b4"/>
  </p:sldMasterIdLst>
  <p:notesMasterIdLst>
    <p:notesMasterId xmlns:r="http://schemas.openxmlformats.org/officeDocument/2006/relationships" r:id="Rfc92fdc6ed774d2b"/>
  </p:notesMasterIdLst>
  <p:sldIdLst>
    <p:sldId xmlns:r="http://schemas.openxmlformats.org/officeDocument/2006/relationships" id="256" r:id="Re9395263dac74950"/>
    <p:sldId xmlns:r="http://schemas.openxmlformats.org/officeDocument/2006/relationships" id="257" r:id="R5316a3abde384a6f"/>
    <p:sldId xmlns:r="http://schemas.openxmlformats.org/officeDocument/2006/relationships" id="258" r:id="Rd61160c685784add"/>
    <p:sldId xmlns:r="http://schemas.openxmlformats.org/officeDocument/2006/relationships" id="259" r:id="R58903474685d40ad"/>
    <p:sldId xmlns:r="http://schemas.openxmlformats.org/officeDocument/2006/relationships" id="260" r:id="Rd6f9ca03710944d9"/>
    <p:sldId xmlns:r="http://schemas.openxmlformats.org/officeDocument/2006/relationships" id="261" r:id="Rdc8c4c214903412d"/>
    <p:sldId xmlns:r="http://schemas.openxmlformats.org/officeDocument/2006/relationships" id="262" r:id="Rfecfa25af3054ef6"/>
    <p:sldId xmlns:r="http://schemas.openxmlformats.org/officeDocument/2006/relationships" id="263" r:id="R6886aceef1064432"/>
    <p:sldId xmlns:r="http://schemas.openxmlformats.org/officeDocument/2006/relationships" id="264" r:id="R4b63be06be3a43db"/>
    <p:sldId xmlns:r="http://schemas.openxmlformats.org/officeDocument/2006/relationships" id="265" r:id="Rf777bd2e1b064327"/>
    <p:sldId xmlns:r="http://schemas.openxmlformats.org/officeDocument/2006/relationships" id="266" r:id="Rbfdc52f081184e95"/>
    <p:sldId xmlns:r="http://schemas.openxmlformats.org/officeDocument/2006/relationships" id="267" r:id="Rc078b1bda1b64d1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1f2d78207246b4" /><Relationship Type="http://schemas.openxmlformats.org/officeDocument/2006/relationships/theme" Target="/ppt/theme/theme1.xml" Id="Rc274f0fbd3804679" /><Relationship Type="http://schemas.openxmlformats.org/officeDocument/2006/relationships/notesMaster" Target="/ppt/notesMasters/notesMaster1.xml" Id="Rfc92fdc6ed774d2b" /><Relationship Type="http://schemas.openxmlformats.org/officeDocument/2006/relationships/presProps" Target="/ppt/presProps.xml" Id="R2209f84be6c74ef1" /><Relationship Type="http://schemas.openxmlformats.org/officeDocument/2006/relationships/viewProps" Target="/ppt/viewProps.xml" Id="R729f8ddbe7ce405b" /><Relationship Type="http://schemas.openxmlformats.org/officeDocument/2006/relationships/tableStyles" Target="/ppt/tableStyles.xml" Id="R7e13d2f339644deb" /><Relationship Type="http://schemas.openxmlformats.org/officeDocument/2006/relationships/slide" Target="/ppt/slides/slide1.xml" Id="Re9395263dac74950" /><Relationship Type="http://schemas.openxmlformats.org/officeDocument/2006/relationships/slide" Target="/ppt/slides/slide2.xml" Id="R5316a3abde384a6f" /><Relationship Type="http://schemas.openxmlformats.org/officeDocument/2006/relationships/slide" Target="/ppt/slides/slide3.xml" Id="Rd61160c685784add" /><Relationship Type="http://schemas.openxmlformats.org/officeDocument/2006/relationships/slide" Target="/ppt/slides/slide4.xml" Id="R58903474685d40ad" /><Relationship Type="http://schemas.openxmlformats.org/officeDocument/2006/relationships/slide" Target="/ppt/slides/slide5.xml" Id="Rd6f9ca03710944d9" /><Relationship Type="http://schemas.openxmlformats.org/officeDocument/2006/relationships/slide" Target="/ppt/slides/slide6.xml" Id="Rdc8c4c214903412d" /><Relationship Type="http://schemas.openxmlformats.org/officeDocument/2006/relationships/slide" Target="/ppt/slides/slide7.xml" Id="Rfecfa25af3054ef6" /><Relationship Type="http://schemas.openxmlformats.org/officeDocument/2006/relationships/slide" Target="/ppt/slides/slide8.xml" Id="R6886aceef1064432" /><Relationship Type="http://schemas.openxmlformats.org/officeDocument/2006/relationships/slide" Target="/ppt/slides/slide9.xml" Id="R4b63be06be3a43db" /><Relationship Type="http://schemas.openxmlformats.org/officeDocument/2006/relationships/slide" Target="/ppt/slides/slide10.xml" Id="Rf777bd2e1b064327" /><Relationship Type="http://schemas.openxmlformats.org/officeDocument/2006/relationships/slide" Target="/ppt/slides/slide11.xml" Id="Rbfdc52f081184e95" /><Relationship Type="http://schemas.openxmlformats.org/officeDocument/2006/relationships/slide" Target="/ppt/slides/slide12.xml" Id="Rc078b1bda1b64d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dc1b61bb51c42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9d31af01124614" /><Relationship Type="http://schemas.openxmlformats.org/officeDocument/2006/relationships/notesMaster" Target="/ppt/notesMasters/notesMaster1.xml" Id="R4e0c8af6c9514e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1b8ad0d2f84411" /><Relationship Type="http://schemas.openxmlformats.org/officeDocument/2006/relationships/notesMaster" Target="/ppt/notesMasters/notesMaster1.xml" Id="R97f2d7a3daa549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8a6ac883d34b0b" /><Relationship Type="http://schemas.openxmlformats.org/officeDocument/2006/relationships/notesMaster" Target="/ppt/notesMasters/notesMaster1.xml" Id="R4c12a915aa4b41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8c23fb2c434172" /><Relationship Type="http://schemas.openxmlformats.org/officeDocument/2006/relationships/notesMaster" Target="/ppt/notesMasters/notesMaster1.xml" Id="R9e2c325a8a8741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91853764a84fd7" /><Relationship Type="http://schemas.openxmlformats.org/officeDocument/2006/relationships/notesMaster" Target="/ppt/notesMasters/notesMaster1.xml" Id="R4f5b9c9432d34c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f393f8aa5a4a01" /><Relationship Type="http://schemas.openxmlformats.org/officeDocument/2006/relationships/notesMaster" Target="/ppt/notesMasters/notesMaster1.xml" Id="R5dc3fc827a3440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207f772f994577" /><Relationship Type="http://schemas.openxmlformats.org/officeDocument/2006/relationships/notesMaster" Target="/ppt/notesMasters/notesMaster1.xml" Id="R587647dc77f44b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eebe7dc55c4537" /><Relationship Type="http://schemas.openxmlformats.org/officeDocument/2006/relationships/notesMaster" Target="/ppt/notesMasters/notesMaster1.xml" Id="Rbfb6d7168e5542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4df6a0e00d4d1f" /><Relationship Type="http://schemas.openxmlformats.org/officeDocument/2006/relationships/notesMaster" Target="/ppt/notesMasters/notesMaster1.xml" Id="R1955fa7a1a754f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57e835f33e451d" /><Relationship Type="http://schemas.openxmlformats.org/officeDocument/2006/relationships/notesMaster" Target="/ppt/notesMasters/notesMaster1.xml" Id="Ra43f8299736f45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7167f755e345e2" /><Relationship Type="http://schemas.openxmlformats.org/officeDocument/2006/relationships/notesMaster" Target="/ppt/notesMasters/notesMaster1.xml" Id="R6f0575bbdd1342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5773f90c14428a" /><Relationship Type="http://schemas.openxmlformats.org/officeDocument/2006/relationships/notesMaster" Target="/ppt/notesMasters/notesMaster1.xml" Id="R7cc19e5f14714c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0b9399568b4be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7bfc6b173b54e60" /><Relationship Type="http://schemas.openxmlformats.org/officeDocument/2006/relationships/slideLayout" Target="/ppt/slideLayouts/slideLayout2.xml" Id="R70f158dc51c048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f158dc51c048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b70edd6b7b4a10" /><Relationship Type="http://schemas.openxmlformats.org/officeDocument/2006/relationships/notesSlide" Target="/ppt/notesSlides/notesSlide1.xml" Id="R9b97838c3cea46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c3b7ed092a437f" /><Relationship Type="http://schemas.openxmlformats.org/officeDocument/2006/relationships/notesSlide" Target="/ppt/notesSlides/notesSlide2.xml" Id="R275c975d311d44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e5576c6b8a44c0" /><Relationship Type="http://schemas.openxmlformats.org/officeDocument/2006/relationships/notesSlide" Target="/ppt/notesSlides/notesSlide3.xml" Id="Rbb27a07e44e848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c9568be1ea466b" /><Relationship Type="http://schemas.openxmlformats.org/officeDocument/2006/relationships/notesSlide" Target="/ppt/notesSlides/notesSlide4.xml" Id="Rafd9cf8ec5cd42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b353ae3db74875" /><Relationship Type="http://schemas.openxmlformats.org/officeDocument/2006/relationships/notesSlide" Target="/ppt/notesSlides/notesSlide5.xml" Id="R4b44fc0877d84a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76fcb4b81247ed" /><Relationship Type="http://schemas.openxmlformats.org/officeDocument/2006/relationships/notesSlide" Target="/ppt/notesSlides/notesSlide6.xml" Id="R3454e79774444d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246513033d4bcb" /><Relationship Type="http://schemas.openxmlformats.org/officeDocument/2006/relationships/notesSlide" Target="/ppt/notesSlides/notesSlide7.xml" Id="Rc2a61bfc4ece46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2fea1ed1784815" /><Relationship Type="http://schemas.openxmlformats.org/officeDocument/2006/relationships/notesSlide" Target="/ppt/notesSlides/notesSlide8.xml" Id="Rb8e54627f2ed41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a9fd4cdeb74d72" /><Relationship Type="http://schemas.openxmlformats.org/officeDocument/2006/relationships/notesSlide" Target="/ppt/notesSlides/notesSlide9.xml" Id="Ra09284a37d6348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86994f80904066" /><Relationship Type="http://schemas.openxmlformats.org/officeDocument/2006/relationships/notesSlide" Target="/ppt/notesSlides/notesSlide10.xml" Id="Rc0cadd487a934a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e4c5358dfd472a" /><Relationship Type="http://schemas.openxmlformats.org/officeDocument/2006/relationships/notesSlide" Target="/ppt/notesSlides/notesSlide11.xml" Id="R2d49450701844b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473499d7404d88" /><Relationship Type="http://schemas.openxmlformats.org/officeDocument/2006/relationships/notesSlide" Target="/ppt/notesSlides/notesSlide12.xml" Id="R9b130a0c087042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DA27C1-F032-4D4B-9767-C36D61F2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7A11B-BD3B-46FB-B2C3-132B6689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419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8"/>
          </a:solidFill>
          <a:ln xmlns:a="http://schemas.openxmlformats.org/drawingml/2006/main" w="9525">
            <a:solidFill>
              <a:srgbClr val="0B182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7C4E3-9DA0-4838-922D-6F18270B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857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7E8F9"/>
                </a:solidFill>
                <a:latin typeface="Aptos"/>
                <a:ea typeface="Aptos"/>
                <a:cs typeface="Aptos"/>
              </a:rPr>
              <a:t>EDUPORTAL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FC84C-690E-4FE3-96C9-F8BBBAF7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5334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Developed and managed by Tecbunny Solutions Private Limited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00205-67EF-485E-ADA0-45738C0B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6858000" cy="1295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32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offline-first AI operating system for Indian schools.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335FA-75B9-4EB3-A08F-B0B3B4B8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7048500" cy="704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Cloud school operations plus Class Station and Student Hub edge devices: built for exams, HPC, APAAR continuity, AI-assisted grading, and classrooms where internet cannot be assumed.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71ABA-0602-4CA3-B6A3-6B4EE7CF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11E62-4F89-4F4A-B9E3-0395A5AC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16764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DE68A"/>
                </a:solidFill>
                <a:latin typeface="Aptos"/>
                <a:ea typeface="Aptos"/>
                <a:cs typeface="Aptos"/>
              </a:rPr>
              <a:t>₹1 Cr+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81047-8A33-4141-B762-73E60934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16764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Minimum investment 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6137D-69E7-4FC5-BC40-9925A345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00700"/>
            <a:ext cx="16764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Convertible note acceptable; funds pilot hardware, product hardening and B2G GTM.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08384-68A0-4071-925C-42F60183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62500"/>
            <a:ext cx="2286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E4F33-A576-4178-A654-02A6FE57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33950"/>
            <a:ext cx="18669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86EFAC"/>
                </a:solidFill>
                <a:latin typeface="Aptos"/>
                <a:ea typeface="Aptos"/>
                <a:cs typeface="Aptos"/>
              </a:rPr>
              <a:t>18 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AF76C1-EABF-4B3D-B8A5-E9F84519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353050"/>
            <a:ext cx="18669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Runway 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5CB1AE-1BD4-4164-A6F3-D9D86CDD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600700"/>
            <a:ext cx="18669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Field pilots, compliance readiness, and repeatable deployment playbook.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8CF814-7618-436C-8623-3FEDFAFF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62500"/>
            <a:ext cx="219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3374F-E313-4D72-9FF2-319B5975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933950"/>
            <a:ext cx="17716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67E8F9"/>
                </a:solidFill>
                <a:latin typeface="Aptos"/>
                <a:ea typeface="Aptos"/>
                <a:cs typeface="Aptos"/>
              </a:rPr>
              <a:t>2-device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8FE7FE-14A2-40BC-8E37-82E361AE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353050"/>
            <a:ext cx="17716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EduOS edge moat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932ABC-AB9E-48F3-AEAA-F79CAC73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00700"/>
            <a:ext cx="17716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Student Hub + Class Station keeps class running when cloud access drops.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10EBF2-A34A-4029-B07C-17145385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2476500" cy="4191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D4D7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FAF28D-F3B1-4A9A-B6DF-7F658CF1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257300"/>
            <a:ext cx="1905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Investor use of proceeds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CF6DB1-6CD8-468D-9E86-9BCE9E56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80975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A2238"/>
          </a:solidFill>
          <a:ln xmlns:a="http://schemas.openxmlformats.org/drawingml/2006/main" w="9525">
            <a:solidFill>
              <a:srgbClr val="67E8F9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Pilot classrooms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ED3E0F-D2A1-4AC7-809B-1CC24470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A2238"/>
          </a:solidFill>
          <a:ln xmlns:a="http://schemas.openxmlformats.org/drawingml/2006/main" w="9525">
            <a:solidFill>
              <a:srgbClr val="67E8F9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EduOS hardware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E4EEAF-A2CE-48D7-8DA4-2EE8EF27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5275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A2238"/>
          </a:solidFill>
          <a:ln xmlns:a="http://schemas.openxmlformats.org/drawingml/2006/main" w="9525">
            <a:solidFill>
              <a:srgbClr val="67E8F9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Security + offline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11189E-A711-48EA-BC17-58C1AABD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52425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A2238"/>
          </a:solidFill>
          <a:ln xmlns:a="http://schemas.openxmlformats.org/drawingml/2006/main" w="9525">
            <a:solidFill>
              <a:srgbClr val="67E8F9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Government GTM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632D35-9391-4CB8-BE75-8B40EBCC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8191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Project handled by Co-founder Shubham Bhisaji | shubham@tecbunny.com | +91 7387375651</a:t>
            </a:r>
          </a:p>
        </p:txBody>
      </p:sp>
    </p:spTree>
    <p:extLst>
      <p:ext uri="{BB962C8B-B14F-4D97-AF65-F5344CB8AC3E}">
        <p14:creationId xmlns:p14="http://schemas.microsoft.com/office/powerpoint/2010/main" val="18356027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E97BE4-FDA0-4A26-B36E-ED8C9096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34C9B-8CA4-4E6D-8CDB-5ADDDF35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4762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7E8F9"/>
                </a:solidFill>
                <a:latin typeface="Aptos"/>
                <a:ea typeface="Aptos"/>
                <a:cs typeface="Aptos"/>
              </a:rPr>
              <a:t>THE PAIN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BA36B-08C0-4C60-A825-73E9ED1E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7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D23E6-CB8F-4E20-B621-11384B6E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914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school software stack breaks at the exact moment learning becomes physical.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4B521-08CE-44C8-A2D1-3565D422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6667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Real Indian classrooms are not always online, quiet, staffed for IT, or forgiving during exams.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1754A-E9C8-4271-9A51-AB0472EE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895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78EF2-281D-49B5-9586-64ED3D6F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66975"/>
            <a:ext cx="209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CA5A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CA5A5"/>
                </a:solidFill>
                <a:latin typeface="Aptos"/>
                <a:ea typeface="Aptos"/>
                <a:cs typeface="Aptos"/>
              </a:rPr>
              <a:t>Network failure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57BC3-718E-4B35-8684-16C826E8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66975"/>
            <a:ext cx="590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Cloud-only login, test delivery and attendance fail when fiber or 4G drops.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2939F-99BE-484E-958D-5217DD31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895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8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9F523-C71C-4FB4-A347-AC0FFE46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33725"/>
            <a:ext cx="209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7E8F9"/>
                </a:solidFill>
                <a:latin typeface="Aptos"/>
                <a:ea typeface="Aptos"/>
                <a:cs typeface="Aptos"/>
              </a:rPr>
              <a:t>Teacher overload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5DDAE-CD18-4618-9A1D-4C1E9679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33725"/>
            <a:ext cx="590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Manual attendance, paper checking, worksheet scanning and compliance reports eat classroom time.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F7AF5-6F77-493A-BAA6-33D66467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895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4C043-CAE9-48CB-9AF9-5B059C34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00475"/>
            <a:ext cx="209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7E8F9"/>
                </a:solidFill>
                <a:latin typeface="Aptos"/>
                <a:ea typeface="Aptos"/>
                <a:cs typeface="Aptos"/>
              </a:rPr>
              <a:t>Fragmented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1F443B-8D62-4F22-AD51-68D81EFA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00475"/>
            <a:ext cx="590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School-bound student data fights APAAR-style lifelong progress tracking.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165C6-CE28-47FB-9A23-6E57A18A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895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8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EF616-B691-4164-B4A8-B524FA58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67225"/>
            <a:ext cx="209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7E8F9"/>
                </a:solidFill>
                <a:latin typeface="Aptos"/>
                <a:ea typeface="Aptos"/>
                <a:cs typeface="Aptos"/>
              </a:rPr>
              <a:t>Hardware fragility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808C93-FBD9-44D6-A68B-56266CAF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67225"/>
            <a:ext cx="590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Generic tablets and web apps do not solve identity, kiosk control or offline exam receipt.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47E5F-E4FB-4DA5-9A99-3B0DA697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43150"/>
            <a:ext cx="1257300" cy="2476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90F16"/>
          </a:solidFill>
          <a:ln xmlns:a="http://schemas.openxmlformats.org/drawingml/2006/main" w="9525">
            <a:solidFill>
              <a:srgbClr val="7F1D1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7CD7E4-4FE5-43BD-8556-0A5C034C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09850"/>
            <a:ext cx="7810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CA5A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CA5A5"/>
                </a:solidFill>
                <a:latin typeface="Aptos"/>
                <a:ea typeface="Aptos"/>
                <a:cs typeface="Aptos"/>
              </a:rPr>
              <a:t>The result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02B984-F022-47A6-B0BC-BD2EE806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81350"/>
            <a:ext cx="8382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 classroom can lose the whole period before the first question appears.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DC63BA-4DA6-40A9-A50E-6DC897ED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0496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2D4D7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5A98EE-DA5A-43A5-BCCE-FD81A4CF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7239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EduPortal is built for the messy physical classroom, not the ideal demo environment.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C6AB13-1B26-473D-966A-827F588D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D72"/>
          </a:solidFill>
          <a:ln xmlns:a="http://schemas.openxmlformats.org/drawingml/2006/main" w="9525">
            <a:solidFill>
              <a:srgbClr val="2D4D7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A2CC1B-9E5F-46AB-919F-0628A86F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EduPortal investor deck | Tecbunny Solutions Private Limited</a:t>
            </a:r>
          </a:p>
        </p:txBody>
      </p:sp>
    </p:spTree>
    <p:extLst>
      <p:ext uri="{BB962C8B-B14F-4D97-AF65-F5344CB8AC3E}">
        <p14:creationId xmlns:p14="http://schemas.microsoft.com/office/powerpoint/2010/main" val="51181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4B8B51-9C54-489E-B1FD-3E4DE9B6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E6C8E-E903-45A9-99B4-152892C8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4762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7E8F9"/>
                </a:solidFill>
                <a:latin typeface="Aptos"/>
                <a:ea typeface="Aptos"/>
                <a:cs typeface="Aptos"/>
              </a:rPr>
              <a:t>PRODUCT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920CD-33E8-4363-A3BC-792A72D9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7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960E9-DACB-4083-B740-65353631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914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EduPortal turns the school into a cloud-managed, edge-executed learning network.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C46B2-E198-46A6-8CCD-16B60A9A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6667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The product is not another dashboard; it is an operating layer that spans admin, teachers, students and classroom hardware.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ACE1F-941B-4916-99FE-40D51AFF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762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D4D7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F4069-E178-413B-BB4C-0A3297C0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21907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Cloud control tower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1669C-F722-4081-8C30-4112A348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2095500" cy="800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Admin provisioning, school lifecycle, subscriptions, fleet, analytics, support and global compliance settings.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30395-EF90-45BB-8D49-19760589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A2238"/>
          </a:solidFill>
          <a:ln xmlns:a="http://schemas.openxmlformats.org/drawingml/2006/main" w="9525">
            <a:solidFill>
              <a:srgbClr val="60A5FA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Central ops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C1C1D3-48AA-4EC7-A1CD-E86C797B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86000"/>
            <a:ext cx="2762250" cy="28575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9826F-326C-45E8-A1F4-B9DADA60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52700"/>
            <a:ext cx="21907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67E8F9"/>
                </a:solidFill>
                <a:latin typeface="Aptos"/>
                <a:ea typeface="Aptos"/>
                <a:cs typeface="Aptos"/>
              </a:rPr>
              <a:t>Class Station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A419C1-977A-44DC-A997-29AC9605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28950"/>
            <a:ext cx="2095500" cy="990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Local classroom authority for QR login, face verification, tests, worksheet scanning, AI grading triggers and offline cache.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93335-F4E3-4797-B0ED-CA515DFB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305300"/>
            <a:ext cx="1695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2238"/>
          </a:solidFill>
          <a:ln xmlns:a="http://schemas.openxmlformats.org/drawingml/2006/main" w="9525">
            <a:solidFill>
              <a:srgbClr val="67E8F9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Edge authority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572DF1-C69A-4CAF-A764-4714D5F2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67000"/>
            <a:ext cx="2381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D4D7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DC1A57-75B2-40CF-A8DE-E3891ED6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14650"/>
            <a:ext cx="18097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Student Hubs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CD6B3-2533-4832-90B9-1E16FC53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33750"/>
            <a:ext cx="1695450" cy="857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Locked-down desks for study material, live tests, timetable, announcements and HPC progress without a camera.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929C6-5990-43A5-B6EE-C0CFCDED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8625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A2238"/>
          </a:solidFill>
          <a:ln xmlns:a="http://schemas.openxmlformats.org/drawingml/2006/main" w="9525">
            <a:solidFill>
              <a:srgbClr val="86EFAC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Learner desk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47B6C-206F-48D6-9B7B-2CAD07D7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63855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DAF5A1-C430-4AEF-8BA9-089BA3AD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385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DADDF7-955F-4E92-A26D-C463012B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33750"/>
            <a:ext cx="952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sync when online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D35F5E-A8D2-40D9-8D7F-C51341DF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33750"/>
            <a:ext cx="10287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LAN during class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07C1E4-4E6A-4C2C-875B-32D588B0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D72"/>
          </a:solidFill>
          <a:ln xmlns:a="http://schemas.openxmlformats.org/drawingml/2006/main" w="9525">
            <a:solidFill>
              <a:srgbClr val="2D4D7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688231-F9F5-4D5A-85E2-06B31578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EduPortal investor deck | Tecbunny Solutions Private Limited</a:t>
            </a:r>
          </a:p>
        </p:txBody>
      </p:sp>
    </p:spTree>
    <p:extLst>
      <p:ext uri="{BB962C8B-B14F-4D97-AF65-F5344CB8AC3E}">
        <p14:creationId xmlns:p14="http://schemas.microsoft.com/office/powerpoint/2010/main" val="19720812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36A175-FE15-4AE3-95E9-A96341FC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0C2A2-4265-4A3E-B97B-CD24E481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4762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7E8F9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00740-0F5C-4903-8FE2-540C0E41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7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64B61-860E-4E59-8531-98425025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914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Three policy and technology shifts make school infrastructure purchasable now.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1DCCC-70AE-4DC5-AB72-C1BB5950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6667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EduPortal sits at the intersection of compliance pressure, AI-assisted teaching, and cheap edge compute.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BA34D-CFBA-4623-943B-E19029AD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2952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4028F-03B5-4D6D-B54D-EE9C0E58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52387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FDE68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89EE0-50A4-4A78-9AE2-D4099AAA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23622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NEP / HPC / APAAR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128F64-28C5-479E-BA97-29D1F191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52875"/>
            <a:ext cx="22860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Schools need competency records, holistic progress cards and portable student identity.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7B7F2-B2EA-46DF-8521-3ABBF558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14625"/>
            <a:ext cx="2952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FE382-9F4A-43F0-B93A-A72FC7E2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52750"/>
            <a:ext cx="52387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67E8F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B4D7A-17FE-4058-AEA9-28876290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AI assessment wave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2E1EB-595B-4710-8A9C-0D32356C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952875"/>
            <a:ext cx="22860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Teachers can now generate quizzes, OCR worksheets and receive rubric suggestions when content is grounded.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7BE60-52A3-44E1-9B7F-AEC6340B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14625"/>
            <a:ext cx="2952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8C3F33-47B8-457E-8FD9-392C3B6E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52750"/>
            <a:ext cx="52387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FDE68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A1A431-EB44-4E30-A7D5-511A6542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29000"/>
            <a:ext cx="23622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Edge hardware economics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CF753C-EB8A-4A3E-9B8F-DA0F8676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52875"/>
            <a:ext cx="22860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Low-cost boards make Class Station + Student Hub deployments plausible below legacy smart-classroom costs.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D7E5FF-1233-4764-9D48-1C64673F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90487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Timing thesis: schools will buy outcomes, not dashboards: audit readiness, exam continuity, teacher productivity and student progress continuity.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A1396-35A5-4154-83D1-F575E0BE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D72"/>
          </a:solidFill>
          <a:ln xmlns:a="http://schemas.openxmlformats.org/drawingml/2006/main" w="9525">
            <a:solidFill>
              <a:srgbClr val="2D4D7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C2D98B-7EE1-4419-8A58-E08E128C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EduPortal investor deck | Tecbunny Solutions Private Limited</a:t>
            </a:r>
          </a:p>
        </p:txBody>
      </p:sp>
    </p:spTree>
    <p:extLst>
      <p:ext uri="{BB962C8B-B14F-4D97-AF65-F5344CB8AC3E}">
        <p14:creationId xmlns:p14="http://schemas.microsoft.com/office/powerpoint/2010/main" val="10523411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B946F9-2F57-4EE1-805E-12BC4EDD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D61ED-643B-47A6-8B55-08953D93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4762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7E8F9"/>
                </a:solidFill>
                <a:latin typeface="Aptos"/>
                <a:ea typeface="Aptos"/>
                <a:cs typeface="Aptos"/>
              </a:rPr>
              <a:t>OFFLINE MOAT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92500-1477-40E1-8908-F37D10DA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7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EA610-43E3-4A4A-9DAD-D1CB9D6C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914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redesigned QR handshake keeps classrooms alive when the cloud disappears.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7E7FB-7DC5-4830-9A3C-87785A61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6667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Class Station is the local authority; Supabase receives signed logs later.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18037-BDA7-484E-8F49-CC898858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762125" cy="2000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8E20F-079E-4002-B9C7-27B36C30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342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DE68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68600-4F48-43F2-9D4A-7DAF1B79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1381125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Hub asks Class Station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F6121-78A6-418C-B61A-50062E6B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13335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LAN request; no Supabase dependency.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631C2-FE63-42EE-B70B-E8F68259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242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CE698-48E8-423D-A96E-FE9DA129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1762125" cy="2000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BFE374-5C7F-4BCD-B7DE-757A7EB4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00375"/>
            <a:ext cx="342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DE68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779A55-05B5-4929-A655-76EB7C27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76625"/>
            <a:ext cx="1381125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Station signs QR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EF665F-3D2B-4A4B-A659-8D2E7153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57650"/>
            <a:ext cx="13335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Rotating nonce bound to device and class.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33EA5C-9B92-4444-8A36-D1FFA5E0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242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3BD398-ED02-4762-83E5-9C06780B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81300"/>
            <a:ext cx="1762125" cy="2000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80A9F1-220F-41A8-8482-A81BF087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0375"/>
            <a:ext cx="342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DE68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8F9ACF-FF0A-4211-80D4-FBCC0DCB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76625"/>
            <a:ext cx="1381125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Station scans face + QR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55D3F-E735-4256-86EC-51905E81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57650"/>
            <a:ext cx="13335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Cached roster and face templates verify identity.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15C9E9-FC59-4CCD-9B35-92E891CC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242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6DB63D-7ACE-44DC-ACFE-1C80F735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1300"/>
            <a:ext cx="1762125" cy="2000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6AD3E8-CA16-40C8-BFB8-C51D47D0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00375"/>
            <a:ext cx="342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DE68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D45829-C049-4FB5-942C-ED443D4F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76625"/>
            <a:ext cx="1381125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Hub unlocks locally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38B8A7-E133-42E2-9F60-0142DBF5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57650"/>
            <a:ext cx="13335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Signed receipt grants session; replay is rejected.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11AECA-4F30-4BF9-A6D4-CDE1BAB2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242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11B68B-1BE1-4EDE-B2F9-545C40A3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762125" cy="2000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DA029F-3307-499F-BF78-8047BC1E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00375"/>
            <a:ext cx="342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DE68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B17AEA-F93B-4129-B1A6-5303EE0E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76625"/>
            <a:ext cx="1381125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Syncs after class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248199-CD8F-42F6-9C30-04DB382B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57650"/>
            <a:ext cx="13335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Append-only qr_sessions audit log reaches cloud later.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5AB764-A1C2-467C-B2DA-6CDA1C9E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A2238"/>
          </a:solidFill>
          <a:ln xmlns:a="http://schemas.openxmlformats.org/drawingml/2006/main" w="9525">
            <a:solidFill>
              <a:srgbClr val="86EFAC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Smoke test passed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3F12DD-60A2-4770-960F-E16A020B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57800"/>
            <a:ext cx="7239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Signed QR accepted once; replay attempt rejected. This is the operational core investors should care about.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26B618-6657-4259-8AA2-06E48A6E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D72"/>
          </a:solidFill>
          <a:ln xmlns:a="http://schemas.openxmlformats.org/drawingml/2006/main" w="9525">
            <a:solidFill>
              <a:srgbClr val="2D4D72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F6E942-536D-4D08-8DC1-90DCD548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EduPortal investor deck | Tecbunny Solutions Private Limited</a:t>
            </a:r>
          </a:p>
        </p:txBody>
      </p:sp>
    </p:spTree>
    <p:extLst>
      <p:ext uri="{BB962C8B-B14F-4D97-AF65-F5344CB8AC3E}">
        <p14:creationId xmlns:p14="http://schemas.microsoft.com/office/powerpoint/2010/main" val="4551911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15131F-759A-4780-B8F4-CB2E5352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18070-B52E-44B6-89F6-983A3ABB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4762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7E8F9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BE918-16EE-4DE6-973A-69A054D2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7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C5BC8-CAF5-42DF-A7D6-72E8D0D4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914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One platform covers the complete operating chain, not just one role.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05B92-75C4-421C-99C9-84D05846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6667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Each role creates data that strengthens the next workflow.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F9A94-55F9-4C58-AFAF-E923EEFD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285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6BB95-4AE3-46AC-892C-FD7AFF91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2381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FA265-13EC-49BF-9D0D-B0E83D52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33362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38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Onboard schools, configure fleet, track subscriptions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63B39-1900-4EF3-BA5C-52532D4B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57450"/>
            <a:ext cx="285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60E41E-7367-462E-B092-9460687A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28900"/>
            <a:ext cx="2381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HOD / Principal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FF1DE4-694F-469B-81AA-9A4DF7BF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52750"/>
            <a:ext cx="233362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38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Staff, attendance, compliance, support, promotion windows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237230-7CFB-401F-9105-9332CFE8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57450"/>
            <a:ext cx="285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C9A4D-BE32-40A8-A3B4-8F44E4DD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28900"/>
            <a:ext cx="2381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Moderator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69729-1CA9-4348-A669-649288D9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33362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38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Syllabus structure, approved material, AI grounding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792EC-F346-4F8E-8D3C-580ED90A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285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B966C-AC16-48FA-9114-11E61E8E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2381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67E8F9"/>
                </a:solidFill>
                <a:latin typeface="Aptos"/>
                <a:ea typeface="Aptos"/>
                <a:cs typeface="Aptos"/>
              </a:rPr>
              <a:t>Teacher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19DB8C-CBAB-49D0-B42B-3F48310D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233362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38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Live tests, monitoring, scan grading, AI suggestions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9C78AB-45FB-4314-8139-16407AA8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838575"/>
            <a:ext cx="285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BA6C7E-68DF-4F68-B63B-E92072BD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10025"/>
            <a:ext cx="2381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Student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274FA9-B7B5-4502-8A91-6C79ACD0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33875"/>
            <a:ext cx="233362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38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Study, exams, timetable, HPC, offline Hub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5A1279-C049-4997-83CF-1FB65841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38575"/>
            <a:ext cx="285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02C1B2-95AE-424F-9F28-EF6CD6FB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10025"/>
            <a:ext cx="2381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Auditor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2EA15E-F853-4DBC-8EA8-911EBA80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33875"/>
            <a:ext cx="233362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38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Compliance health, engagement and signed reports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117F24-A3F6-4AD5-B645-A7F0F318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93345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Expansion logic: start with classroom continuity, then land compliance, AI grading, HPC analytics and fleet management as recurring modules.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854B64-92DF-42CA-9A82-444DDCE9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D72"/>
          </a:solidFill>
          <a:ln xmlns:a="http://schemas.openxmlformats.org/drawingml/2006/main" w="9525">
            <a:solidFill>
              <a:srgbClr val="2D4D7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8E071C-F5F8-4EE3-B060-09600862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EduPortal investor deck | Tecbunny Solutions Private Limited</a:t>
            </a:r>
          </a:p>
        </p:txBody>
      </p:sp>
    </p:spTree>
    <p:extLst>
      <p:ext uri="{BB962C8B-B14F-4D97-AF65-F5344CB8AC3E}">
        <p14:creationId xmlns:p14="http://schemas.microsoft.com/office/powerpoint/2010/main" val="13582591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DABA74-0D3E-423E-B199-F21899FF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EDA0D-205A-4EC1-A933-AF7E8618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4762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7E8F9"/>
                </a:solidFill>
                <a:latin typeface="Aptos"/>
                <a:ea typeface="Aptos"/>
                <a:cs typeface="Aptos"/>
              </a:rPr>
              <a:t>BUSINESS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4AA78-AA70-49F5-90E1-4E2BF1D7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7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73D58-E631-41C8-966D-65866478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914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Revenue stacks software subscriptions with classroom hardware and deployment services.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70CA7-A9EF-4D98-B048-D9B13FCA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6667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The economic wedge is a classroom kit that makes the SaaS indispensable.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AE705-84EE-4C70-8F45-443059DC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3336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6365A-F011-4515-BF5C-DC00CB60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1914525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67E8F9"/>
                </a:solidFill>
                <a:latin typeface="Aptos"/>
                <a:ea typeface="Aptos"/>
                <a:cs typeface="Aptos"/>
              </a:rPr>
              <a:t>SaaS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525F0-06C9-46E2-946B-F87AC983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1914525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School + role modules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218B1-19CC-4FD7-95F9-7836F1A4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1914525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Admin, HOD, teacher, student, auditor, AI and compliance tiers.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76178-3244-416C-ABC1-80FF0B46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23336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FB670-76BA-4260-8057-02B970B6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43200"/>
            <a:ext cx="1914525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86EFAC"/>
                </a:solidFill>
                <a:latin typeface="Aptos"/>
                <a:ea typeface="Aptos"/>
                <a:cs typeface="Aptos"/>
              </a:rPr>
              <a:t>EduOS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B4DB47-261C-40F0-832D-B0293020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62300"/>
            <a:ext cx="1914525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Classroom hardware kit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31F35-32B5-41F7-A51A-57B4D17F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09950"/>
            <a:ext cx="1914525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Class Station and Student Hubs bundled through partner assembly or channel procurement.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6F655-2F72-4B69-A8CF-A9A88600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3336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3BBB8E-9AA9-40BF-8313-7338FED9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43200"/>
            <a:ext cx="1914525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DE68A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BECF9A-8E9B-4E79-8FF0-3B08997F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1914525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Deployment + support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61FC5D-E3CD-405E-A274-9135A889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1914525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Installation, teacher enablement, support runbooks and annual maintenance.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BC6FA9-DC03-4C8A-934C-D566D2B8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43150"/>
            <a:ext cx="2190750" cy="23336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5CDC9C-701F-4E42-BD9D-0E08FB5B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28900"/>
            <a:ext cx="1695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Pilot-to-contract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B1B28A-02BD-46D5-89BF-364E6A3A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57550"/>
            <a:ext cx="1428750" cy="723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1 classroom pilot → school cluster → district / trust order → annual renewals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64E595-91FD-4A4F-B8D8-D84D9CA4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00650"/>
            <a:ext cx="7620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Pricing will be validated in pilots; the near-term goal is proof of uptime, teacher adoption, and procurement-ready unit economics.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00B24B-073B-4BFC-9CB9-39596E52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D72"/>
          </a:solidFill>
          <a:ln xmlns:a="http://schemas.openxmlformats.org/drawingml/2006/main" w="9525">
            <a:solidFill>
              <a:srgbClr val="2D4D7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658065-4500-42C8-ADA1-D78133D5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EduPortal investor deck | Tecbunny Solutions Private Limited</a:t>
            </a:r>
          </a:p>
        </p:txBody>
      </p:sp>
    </p:spTree>
    <p:extLst>
      <p:ext uri="{BB962C8B-B14F-4D97-AF65-F5344CB8AC3E}">
        <p14:creationId xmlns:p14="http://schemas.microsoft.com/office/powerpoint/2010/main" val="20342977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C4BFDD-A5A1-4A6F-A71B-8A26F4C8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B9553-4191-4165-894C-F7F1A920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4762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7E8F9"/>
                </a:solidFill>
                <a:latin typeface="Aptos"/>
                <a:ea typeface="Aptos"/>
                <a:cs typeface="Aptos"/>
              </a:rPr>
              <a:t>BEACHHEAD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22F10-AB38-4A5D-8713-A86EF6C2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7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A9D1E-1C1D-4865-9964-61E1E8A2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914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wedge is not all education software; it is schools that need offline exam continuity.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0AA95-2C74-4F94-A2E5-EDAEE7D3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6667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That makes the first market concrete: government and budget schools where infrastructure unreliability is normal.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AD3D0-37C5-4892-A396-DD087568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78105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Initial opportunity reference from existing deck: ₹100 Cr India school OS wedge. Treat this as a beachhead sizing assumption to validate through pilots, channel discovery and paid conversion.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85257-B1E5-4F79-8F92-BDF9AEC5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2333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C8264-1D47-41CE-89C8-0B77B583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067300"/>
            <a:ext cx="2066925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7111F"/>
                </a:solidFill>
                <a:latin typeface="Aptos"/>
                <a:ea typeface="Aptos"/>
                <a:cs typeface="Aptos"/>
              </a:rPr>
              <a:t>Classroom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9F701-609D-43E9-A86B-6556F961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276850"/>
            <a:ext cx="206692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 i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07111F"/>
                </a:solidFill>
                <a:latin typeface="Aptos"/>
                <a:ea typeface="Aptos"/>
                <a:cs typeface="Aptos"/>
              </a:rPr>
              <a:t>1 Class Station + Student Hubs prove exam continuity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B825A-8F5F-4A3F-BCCA-596D9F29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29125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9525">
            <a:solidFill>
              <a:srgbClr val="86EFA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D2857-2845-4E8B-846A-BEA86C92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43425"/>
            <a:ext cx="26860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7111F"/>
                </a:solidFill>
                <a:latin typeface="Aptos"/>
                <a:ea typeface="Aptos"/>
                <a:cs typeface="Aptos"/>
              </a:rPr>
              <a:t>School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E65F1-DDD3-41AC-96F4-BD237606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52975"/>
            <a:ext cx="26860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 i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07111F"/>
                </a:solidFill>
                <a:latin typeface="Aptos"/>
                <a:ea typeface="Aptos"/>
                <a:cs typeface="Aptos"/>
              </a:rPr>
              <a:t>Admin, staff, content, HPC and compliance modules attach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955CF-20D3-4F8C-B0A0-80D01E01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905250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9525">
            <a:solidFill>
              <a:srgbClr val="FDE68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48B359-452F-4617-B69C-3B9D7168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019550"/>
            <a:ext cx="31623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7111F"/>
                </a:solidFill>
                <a:latin typeface="Aptos"/>
                <a:ea typeface="Aptos"/>
                <a:cs typeface="Aptos"/>
              </a:rPr>
              <a:t>Cluster / trust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D83B7-CFA1-4770-9503-DA3E16F5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229100"/>
            <a:ext cx="31623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 i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07111F"/>
                </a:solidFill>
                <a:latin typeface="Aptos"/>
                <a:ea typeface="Aptos"/>
                <a:cs typeface="Aptos"/>
              </a:rPr>
              <a:t>Fleet, analytics and support workflows create operating leverage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2081DC-0ABD-4C54-AD47-FDE68905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81375"/>
            <a:ext cx="3476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9525">
            <a:solidFill>
              <a:srgbClr val="60A5F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41109-4A82-4961-AC41-C3082B42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495675"/>
            <a:ext cx="3209925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7111F"/>
                </a:solidFill>
                <a:latin typeface="Aptos"/>
                <a:ea typeface="Aptos"/>
                <a:cs typeface="Aptos"/>
              </a:rPr>
              <a:t>District /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15E330-A924-4C72-942C-5983CE64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705225"/>
            <a:ext cx="320992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 i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07111F"/>
                </a:solidFill>
                <a:latin typeface="Aptos"/>
                <a:ea typeface="Aptos"/>
                <a:cs typeface="Aptos"/>
              </a:rPr>
              <a:t>Procurement narrative becomes uptime + audit readiness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7C0BDD-FF8E-4E99-9092-1782D4ED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D72"/>
          </a:solidFill>
          <a:ln xmlns:a="http://schemas.openxmlformats.org/drawingml/2006/main" w="9525">
            <a:solidFill>
              <a:srgbClr val="2D4D7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1BD2EE-C97B-44D1-BBEC-B0C4787F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EduPortal investor deck | Tecbunny Solutions Private Limited</a:t>
            </a:r>
          </a:p>
        </p:txBody>
      </p:sp>
    </p:spTree>
    <p:extLst>
      <p:ext uri="{BB962C8B-B14F-4D97-AF65-F5344CB8AC3E}">
        <p14:creationId xmlns:p14="http://schemas.microsoft.com/office/powerpoint/2010/main" val="9249004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47B96D-93C5-449B-B567-E8563293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D1DCF-F44A-476E-B66B-507293B5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4762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7E8F9"/>
                </a:solidFill>
                <a:latin typeface="Aptos"/>
                <a:ea typeface="Aptos"/>
                <a:cs typeface="Aptos"/>
              </a:rPr>
              <a:t>TRACTION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1C7B0-BBDF-49AF-AF82-4084FEDE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7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070CC-5664-45B3-8C4C-5B4530ED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914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build already contains the hard surfaces investors usually ask about.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1A0E0-9064-40B2-8D74-EE8A7EE3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6667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This is not an idea deck; the repository now has working routes, dashboards and hardware integration points.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262E8-1896-48E2-B59E-79B51D9C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0BB9E-D651-4152-A402-BF682BA3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409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Multi-tenant school provisioning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4F942-7C9C-4136-A94A-45EF3143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812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CA16B-D9DF-4B1F-B54C-108DF380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495550"/>
            <a:ext cx="409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Role dashboards for admin, HOD, moderator, teacher, student, auditor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F9F8E-01EB-4410-8C56-9287BAC5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03CE08-1945-4F1C-B5AF-A49D9D11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409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Live Test Engine with local autosave and offline event queue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4B2AB-D424-4674-8C98-7087125F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0289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6F91D-56D6-4A87-A07F-16F46AAD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143250"/>
            <a:ext cx="409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Split-screen worksheet scanner and AI grading bridge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9850C-2417-4E1F-BF15-E64173B2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A754D-3F34-4E5E-94D3-C1177ABE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409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APAAR / ABC global student identity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71A286-8394-436A-B0F8-6F606036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6766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3DAAE3-BDB4-453E-A1B9-03EEA3FD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790950"/>
            <a:ext cx="409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Signed hardware request verification and replay protection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71AB9A-2331-49BB-97E3-3BBE135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5A7E8D-59E9-4AD8-AAC1-645BD6A8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409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7E8F9"/>
                </a:solidFill>
                <a:latin typeface="Aptos"/>
                <a:ea typeface="Aptos"/>
                <a:cs typeface="Aptos"/>
              </a:rPr>
              <a:t>Local Class Station QR authority endpoints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A9B6B0-8790-48DA-A853-6403CE53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243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2E7C93-6CA3-4849-8810-590F76DF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438650"/>
            <a:ext cx="409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Detailed hardware architecture and regenerated working 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B1AA6F-ABF6-4418-9421-209F151B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88582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86EFAC"/>
                </a:solidFill>
                <a:latin typeface="Aptos"/>
                <a:ea typeface="Aptos"/>
                <a:cs typeface="Aptos"/>
              </a:rPr>
              <a:t>Verification after latest architecture work: TypeScript passed, production build passed, and local QR replay rejection passed.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F0245F-5242-4686-9DEF-C33770B8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D72"/>
          </a:solidFill>
          <a:ln xmlns:a="http://schemas.openxmlformats.org/drawingml/2006/main" w="9525">
            <a:solidFill>
              <a:srgbClr val="2D4D7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60D043-5182-4596-A48E-5B83E49E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EduPortal investor deck | Tecbunny Solutions Private Limited</a:t>
            </a:r>
          </a:p>
        </p:txBody>
      </p:sp>
    </p:spTree>
    <p:extLst>
      <p:ext uri="{BB962C8B-B14F-4D97-AF65-F5344CB8AC3E}">
        <p14:creationId xmlns:p14="http://schemas.microsoft.com/office/powerpoint/2010/main" val="14248891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E00012-6596-42AE-910C-C60C3CF4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5B87ED-FE5C-4A7D-BF30-BD88A93A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4762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7E8F9"/>
                </a:solidFill>
                <a:latin typeface="Aptos"/>
                <a:ea typeface="Aptos"/>
                <a:cs typeface="Aptos"/>
              </a:rPr>
              <a:t>MILESTONES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F6891-EC63-4FD5-8809-54120B7E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7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D27C4-9E38-418D-8A7A-3D88C321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914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₹1 Cr note buys a field-ready pilot machine, not vanity hiring.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DA974-F797-41DF-8559-CEE8C832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6667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Milestones are tied to procurement readiness and classroom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79322-B8A9-4A3C-B692-D088EC8B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190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41EEB-487F-4D67-81CC-CDEC66FC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1714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DE68A"/>
                </a:solidFill>
                <a:latin typeface="Aptos"/>
                <a:ea typeface="Aptos"/>
                <a:cs typeface="Aptos"/>
              </a:rPr>
              <a:t>0-3 months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67B0D-3B52-4B96-976C-5E41C5D9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17145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Harden edge auth, OTA windows, emergency study mode, cache freshness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24768-93FF-4EFA-A954-76A75BCA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57500"/>
            <a:ext cx="2190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5B815-3061-4BC7-BEE6-FE4247B8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105150"/>
            <a:ext cx="1714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7E8F9"/>
                </a:solidFill>
                <a:latin typeface="Aptos"/>
                <a:ea typeface="Aptos"/>
                <a:cs typeface="Aptos"/>
              </a:rPr>
              <a:t>4-9 months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CBA00-89FF-47A9-AB23-0F994A5D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562350"/>
            <a:ext cx="17145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Deploy 3-5 pilot classrooms, measure uptime, exam completion, teacher adoption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53CBB-5257-4D77-A894-0C1297C4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2190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CE2AB-365F-400B-8306-E0059D12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05150"/>
            <a:ext cx="1714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DE68A"/>
                </a:solidFill>
                <a:latin typeface="Aptos"/>
                <a:ea typeface="Aptos"/>
                <a:cs typeface="Aptos"/>
              </a:rPr>
              <a:t>10-15 months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653D9-9441-44CD-927A-D7BD71D5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62350"/>
            <a:ext cx="17145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Convert pilots into paid school/cluster contracts; document support and training playbook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296BF1-24CB-45CD-9FC5-2B078844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57500"/>
            <a:ext cx="2190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5B43E4-C0AC-4001-AE20-0A5D277B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105150"/>
            <a:ext cx="1714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DE68A"/>
                </a:solidFill>
                <a:latin typeface="Aptos"/>
                <a:ea typeface="Aptos"/>
                <a:cs typeface="Aptos"/>
              </a:rPr>
              <a:t>16-18 months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BD22A2-196B-415C-B3A1-FA1168E6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562350"/>
            <a:ext cx="17145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Prepare B2G procurement pack, channel partnerships and next institutional round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45D92B-F2F4-499F-BE23-C7DEFA9F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2D4D7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D34EEC-BDA0-48A3-98B4-A0968633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57800"/>
            <a:ext cx="9429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Success definition: a teacher can run login, class activity, test, submission receipt and report sync even when internet fails during class.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5313AD-A6AC-42CC-B849-B2083B77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D72"/>
          </a:solidFill>
          <a:ln xmlns:a="http://schemas.openxmlformats.org/drawingml/2006/main" w="9525">
            <a:solidFill>
              <a:srgbClr val="2D4D7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D9D608-8FB5-4328-842A-463E7D83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EduPortal investor deck | Tecbunny Solutions Private Limited</a:t>
            </a:r>
          </a:p>
        </p:txBody>
      </p:sp>
    </p:spTree>
    <p:extLst>
      <p:ext uri="{BB962C8B-B14F-4D97-AF65-F5344CB8AC3E}">
        <p14:creationId xmlns:p14="http://schemas.microsoft.com/office/powerpoint/2010/main" val="2813711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3FC4D2-025A-4771-AC0D-77F95EFD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A7C8D-D6E6-4B64-B296-3797C838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4762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7E8F9"/>
                </a:solidFill>
                <a:latin typeface="Aptos"/>
                <a:ea typeface="Aptos"/>
                <a:cs typeface="Aptos"/>
              </a:rPr>
              <a:t>THE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C43CB-459F-4154-92BC-F4057D2B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7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3DEED-AF39-4435-B18D-93554EC8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914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Raise minimum ₹1 Cr now via convertible note to reach pilot-to-procurement proof.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7D9AE-8B12-4936-92C8-DB4DE670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6667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Convertible note structure keeps the round fast while preserving valuation flexibility until pilot evidence matures.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FC0E4-5FF3-45D7-BF94-D92B0B04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333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4635A-A01E-47F6-BD4C-2921D7C8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1914525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DE68A"/>
                </a:solidFill>
                <a:latin typeface="Aptos"/>
                <a:ea typeface="Aptos"/>
                <a:cs typeface="Aptos"/>
              </a:rPr>
              <a:t>₹1 Cr+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74BEC-444D-451C-A637-AAF61F57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1914525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Minimum investment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B9BD0-F606-4301-B392-3810366C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1914525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Convertible note acceptable; larger participation can extend pilot geography and inventory.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D2AA8-7C21-499C-8BB2-0B076F0F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2333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A28493-C98A-4914-9E0E-8AB56BCC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43200"/>
            <a:ext cx="1914525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86EFAC"/>
                </a:solidFill>
                <a:latin typeface="Aptos"/>
                <a:ea typeface="Aptos"/>
                <a:cs typeface="Aptos"/>
              </a:rPr>
              <a:t>18 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AED51-53DF-4EA6-B695-B3F3551B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14525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Target runway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E925A-8696-4DA6-B3EF-2DB39D73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09950"/>
            <a:ext cx="1914525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Enough to harden architecture, run pilots and build procurement proof.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6F367-91B8-4A57-94D5-3F1F8BF6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2333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006A76-F446-448B-B083-7E23B2F7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1914525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67E8F9"/>
                </a:solidFill>
                <a:latin typeface="Aptos"/>
                <a:ea typeface="Aptos"/>
                <a:cs typeface="Aptos"/>
              </a:rPr>
              <a:t>B2G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E711B9-D835-4226-9010-2A3B9217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1914525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Route to scale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39299-1AC8-4AA0-9B3E-F1B5A0DE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9950"/>
            <a:ext cx="1914525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Government / trust / cluster deployments after classroom proof.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B755EA-C9D6-421B-9BE0-147769D6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33625"/>
            <a:ext cx="2095500" cy="2333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0DCA5D-5C16-492D-B196-32911219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524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Proposed note terms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29EFD7-FD59-4B16-9B2A-B813A26F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43250"/>
            <a:ext cx="14287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97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Instrument: convertible note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97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Minimum: ₹1 Cr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97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Conversion: next priced equity round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97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Terms: mutually agreed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F0B181-DDFE-40E9-9E56-19E5D04B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19700"/>
            <a:ext cx="90487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Use of proceeds priority: 35% product/offline hardening, 30% pilot hardware, 20% GTM/procurement, 15% support/compliance runway.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F7FB96-2359-4C3B-A43D-690C9DAB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D72"/>
          </a:solidFill>
          <a:ln xmlns:a="http://schemas.openxmlformats.org/drawingml/2006/main" w="9525">
            <a:solidFill>
              <a:srgbClr val="2D4D7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331961-0831-423A-BB52-FB4EB343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EduPortal investor deck | Tecbunny Solutions Private Limited</a:t>
            </a:r>
          </a:p>
        </p:txBody>
      </p:sp>
    </p:spTree>
    <p:extLst>
      <p:ext uri="{BB962C8B-B14F-4D97-AF65-F5344CB8AC3E}">
        <p14:creationId xmlns:p14="http://schemas.microsoft.com/office/powerpoint/2010/main" val="13337205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752320-43BB-4E17-A377-3C512723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476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7E8F9"/>
                </a:solidFill>
                <a:latin typeface="Aptos"/>
                <a:ea typeface="Aptos"/>
                <a:cs typeface="Aptos"/>
              </a:rPr>
              <a:t>EDUPORTAL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DDCBD-B7DA-4002-BA40-E4A2AAEB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7810500" cy="1143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 ₹1 Cr convertible note turns EduPortal from working architecture into field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38F49-7D6E-4548-AEE8-C8C347AD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7239000" cy="590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The first win is not a download or a dashboard login. It is a classroom that keeps teaching when the network, power, and paperwork pressure all hit at once.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4DA30-747C-4B30-89EA-EC6BC0BF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E9483-7438-461A-8105-4AD36DF2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19621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DE68A"/>
                </a:solidFill>
                <a:latin typeface="Aptos"/>
                <a:ea typeface="Aptos"/>
                <a:cs typeface="Aptos"/>
              </a:rPr>
              <a:t>Minimum ₹1 Cr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3F5C7-56AD-4062-9FB1-561EB54F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962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Convertible note 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FF00F-376C-4276-BBB2-FE1B12F9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19621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Fast instrument; conversion at next priced round.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698C4-3DCB-481E-8AF9-4FF47683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529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6DE91-9CB9-41CC-80BD-8DDC4C1D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24400"/>
            <a:ext cx="19621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86EFAC"/>
                </a:solidFill>
                <a:latin typeface="Aptos"/>
                <a:ea typeface="Aptos"/>
                <a:cs typeface="Aptos"/>
              </a:rPr>
              <a:t>Pilot 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364CA-4947-45F0-9551-748C21D1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43500"/>
            <a:ext cx="1962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Next objective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7DDEE-B221-4AAF-A846-81EB37C8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91150"/>
            <a:ext cx="19621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Uptime, teacher usage, exam completion, sync reliability.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E13B0-CCF9-411A-8944-1C6199EC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5529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73767-E72F-47FB-A43A-7263C012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4400"/>
            <a:ext cx="19621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67E8F9"/>
                </a:solidFill>
                <a:latin typeface="Aptos"/>
                <a:ea typeface="Aptos"/>
                <a:cs typeface="Aptos"/>
              </a:rPr>
              <a:t>B2G-ready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1D619-2496-44EA-8289-3238B307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0"/>
            <a:ext cx="1962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Scale narrative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BFC73-FD15-49C5-919F-B7330043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19621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Procurement pack plus classroom evidence.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010873-F439-4AE1-BDA9-56EECBD9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23950"/>
            <a:ext cx="2095500" cy="3714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2D4D7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4EA2D8-6F03-428B-8730-E7539526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71625"/>
            <a:ext cx="1333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Contact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D57CDD-8292-4D40-9091-D2F6BE5B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38375"/>
            <a:ext cx="1619250" cy="1428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11F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12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Shubham Bhisaji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12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Co-founder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12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shubham@tecbunny.com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125" b="0" i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B8CC"/>
                </a:solidFill>
                <a:latin typeface="Aptos"/>
                <a:ea typeface="Aptos"/>
                <a:cs typeface="Aptos"/>
              </a:rPr>
              <a:t>+91 7387375651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205538-040F-45C1-A60F-879211CE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48125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A2238"/>
          </a:solidFill>
          <a:ln xmlns:a="http://schemas.openxmlformats.org/drawingml/2006/main" w="9525">
            <a:solidFill>
              <a:srgbClr val="67E8F9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Let’s pilot</a:t>
            </a:r>
          </a:p>
        </p:txBody>
      </p:sp>
    </p:spTree>
    <p:extLst>
      <p:ext uri="{BB962C8B-B14F-4D97-AF65-F5344CB8AC3E}">
        <p14:creationId xmlns:p14="http://schemas.microsoft.com/office/powerpoint/2010/main" val="3079415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2026-05-02T12:59:07.8190000Z</dcterms:created>
  <dcterms:modified xsi:type="dcterms:W3CDTF">2026-05-02T12:59:07.8190000Z</dcterms:modified>
</coreProperties>
</file>