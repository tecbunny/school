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7d33be0bac4bb0" /><Relationship Type="http://schemas.openxmlformats.org/officeDocument/2006/relationships/extended-properties" Target="/docProps/app.xml" Id="R09a89261f7514520" /><Relationship Type="http://schemas.openxmlformats.org/officeDocument/2006/relationships/officeDocument" Target="/ppt/presentation.xml" Id="Re51043bb75354e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2c693ce0ff4b32"/>
  </p:sldMasterIdLst>
  <p:notesMasterIdLst>
    <p:notesMasterId xmlns:r="http://schemas.openxmlformats.org/officeDocument/2006/relationships" r:id="Raf883e28d33d43f5"/>
  </p:notesMasterIdLst>
  <p:sldIdLst>
    <p:sldId xmlns:r="http://schemas.openxmlformats.org/officeDocument/2006/relationships" id="256" r:id="R99f3efaf6f11461e"/>
    <p:sldId xmlns:r="http://schemas.openxmlformats.org/officeDocument/2006/relationships" id="257" r:id="Reb9b5b52e5424ad2"/>
    <p:sldId xmlns:r="http://schemas.openxmlformats.org/officeDocument/2006/relationships" id="258" r:id="R6975f7fe4d8b4dbd"/>
    <p:sldId xmlns:r="http://schemas.openxmlformats.org/officeDocument/2006/relationships" id="259" r:id="Rcd101c64b452452a"/>
    <p:sldId xmlns:r="http://schemas.openxmlformats.org/officeDocument/2006/relationships" id="260" r:id="R8a26c86f2aaf4664"/>
    <p:sldId xmlns:r="http://schemas.openxmlformats.org/officeDocument/2006/relationships" id="261" r:id="Rd9dbe99fbf774307"/>
    <p:sldId xmlns:r="http://schemas.openxmlformats.org/officeDocument/2006/relationships" id="262" r:id="R4794e0d5529b4d2e"/>
    <p:sldId xmlns:r="http://schemas.openxmlformats.org/officeDocument/2006/relationships" id="263" r:id="Raab12923fa394a30"/>
    <p:sldId xmlns:r="http://schemas.openxmlformats.org/officeDocument/2006/relationships" id="264" r:id="Rf90d3d64ad8d4a8d"/>
    <p:sldId xmlns:r="http://schemas.openxmlformats.org/officeDocument/2006/relationships" id="265" r:id="R0abcaaa2fd8d403a"/>
    <p:sldId xmlns:r="http://schemas.openxmlformats.org/officeDocument/2006/relationships" id="266" r:id="R4568ab46009c40a2"/>
    <p:sldId xmlns:r="http://schemas.openxmlformats.org/officeDocument/2006/relationships" id="267" r:id="R52418d6632d744e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2c693ce0ff4b32" /><Relationship Type="http://schemas.openxmlformats.org/officeDocument/2006/relationships/theme" Target="/ppt/theme/theme1.xml" Id="R5da950d0a76647f5" /><Relationship Type="http://schemas.openxmlformats.org/officeDocument/2006/relationships/notesMaster" Target="/ppt/notesMasters/notesMaster1.xml" Id="Raf883e28d33d43f5" /><Relationship Type="http://schemas.openxmlformats.org/officeDocument/2006/relationships/presProps" Target="/ppt/presProps.xml" Id="Rf7bbcc6dd68e4d85" /><Relationship Type="http://schemas.openxmlformats.org/officeDocument/2006/relationships/viewProps" Target="/ppt/viewProps.xml" Id="R08fb65691e7b4343" /><Relationship Type="http://schemas.openxmlformats.org/officeDocument/2006/relationships/tableStyles" Target="/ppt/tableStyles.xml" Id="Rf997b5cae6b84c05" /><Relationship Type="http://schemas.openxmlformats.org/officeDocument/2006/relationships/slide" Target="/ppt/slides/slide1.xml" Id="R99f3efaf6f11461e" /><Relationship Type="http://schemas.openxmlformats.org/officeDocument/2006/relationships/slide" Target="/ppt/slides/slide2.xml" Id="Reb9b5b52e5424ad2" /><Relationship Type="http://schemas.openxmlformats.org/officeDocument/2006/relationships/slide" Target="/ppt/slides/slide3.xml" Id="R6975f7fe4d8b4dbd" /><Relationship Type="http://schemas.openxmlformats.org/officeDocument/2006/relationships/slide" Target="/ppt/slides/slide4.xml" Id="Rcd101c64b452452a" /><Relationship Type="http://schemas.openxmlformats.org/officeDocument/2006/relationships/slide" Target="/ppt/slides/slide5.xml" Id="R8a26c86f2aaf4664" /><Relationship Type="http://schemas.openxmlformats.org/officeDocument/2006/relationships/slide" Target="/ppt/slides/slide6.xml" Id="Rd9dbe99fbf774307" /><Relationship Type="http://schemas.openxmlformats.org/officeDocument/2006/relationships/slide" Target="/ppt/slides/slide7.xml" Id="R4794e0d5529b4d2e" /><Relationship Type="http://schemas.openxmlformats.org/officeDocument/2006/relationships/slide" Target="/ppt/slides/slide8.xml" Id="Raab12923fa394a30" /><Relationship Type="http://schemas.openxmlformats.org/officeDocument/2006/relationships/slide" Target="/ppt/slides/slide9.xml" Id="Rf90d3d64ad8d4a8d" /><Relationship Type="http://schemas.openxmlformats.org/officeDocument/2006/relationships/slide" Target="/ppt/slides/slide10.xml" Id="R0abcaaa2fd8d403a" /><Relationship Type="http://schemas.openxmlformats.org/officeDocument/2006/relationships/slide" Target="/ppt/slides/slide11.xml" Id="R4568ab46009c40a2" /><Relationship Type="http://schemas.openxmlformats.org/officeDocument/2006/relationships/slide" Target="/ppt/slides/slide12.xml" Id="R52418d6632d744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7dbe4ad90ec4c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314c0e01b14dde" /><Relationship Type="http://schemas.openxmlformats.org/officeDocument/2006/relationships/notesMaster" Target="/ppt/notesMasters/notesMaster1.xml" Id="R6b3558a5732b44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e2df5f23f84a18" /><Relationship Type="http://schemas.openxmlformats.org/officeDocument/2006/relationships/notesMaster" Target="/ppt/notesMasters/notesMaster1.xml" Id="R48d45c32b66b4f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5bb9e8451247c3" /><Relationship Type="http://schemas.openxmlformats.org/officeDocument/2006/relationships/notesMaster" Target="/ppt/notesMasters/notesMaster1.xml" Id="R74d007a03cf94d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12f46fce6645b9" /><Relationship Type="http://schemas.openxmlformats.org/officeDocument/2006/relationships/notesMaster" Target="/ppt/notesMasters/notesMaster1.xml" Id="R235e8d412d8949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7a5a5492ca4907" /><Relationship Type="http://schemas.openxmlformats.org/officeDocument/2006/relationships/notesMaster" Target="/ppt/notesMasters/notesMaster1.xml" Id="R1722e42618414b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ff549efab349fa" /><Relationship Type="http://schemas.openxmlformats.org/officeDocument/2006/relationships/notesMaster" Target="/ppt/notesMasters/notesMaster1.xml" Id="Rfbe543c6a1ad4a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c5744e3508430a" /><Relationship Type="http://schemas.openxmlformats.org/officeDocument/2006/relationships/notesMaster" Target="/ppt/notesMasters/notesMaster1.xml" Id="Ra2b77cefebe346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7f4a3dd6894973" /><Relationship Type="http://schemas.openxmlformats.org/officeDocument/2006/relationships/notesMaster" Target="/ppt/notesMasters/notesMaster1.xml" Id="R8736813ac70046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c4a04f9fd24444" /><Relationship Type="http://schemas.openxmlformats.org/officeDocument/2006/relationships/notesMaster" Target="/ppt/notesMasters/notesMaster1.xml" Id="R02845cc5f55142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dcb174e786404c" /><Relationship Type="http://schemas.openxmlformats.org/officeDocument/2006/relationships/notesMaster" Target="/ppt/notesMasters/notesMaster1.xml" Id="R4d5a55793b6a45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1275bd8293462e" /><Relationship Type="http://schemas.openxmlformats.org/officeDocument/2006/relationships/notesMaster" Target="/ppt/notesMasters/notesMaster1.xml" Id="Re65da3c056b444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00f5adc6f849da" /><Relationship Type="http://schemas.openxmlformats.org/officeDocument/2006/relationships/notesMaster" Target="/ppt/notesMasters/notesMaster1.xml" Id="R5412f6efb53d48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0d86c32f63405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f32c5aee0554c9c" /><Relationship Type="http://schemas.openxmlformats.org/officeDocument/2006/relationships/slideLayout" Target="/ppt/slideLayouts/slideLayout2.xml" Id="R404e46ff9cdf4e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4e46ff9cdf4e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7a274b790f443f" /><Relationship Type="http://schemas.openxmlformats.org/officeDocument/2006/relationships/notesSlide" Target="/ppt/notesSlides/notesSlide1.xml" Id="R02001346479246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cbe439bd664e94" /><Relationship Type="http://schemas.openxmlformats.org/officeDocument/2006/relationships/notesSlide" Target="/ppt/notesSlides/notesSlide2.xml" Id="R2135ec676fda48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582e98193d4a71" /><Relationship Type="http://schemas.openxmlformats.org/officeDocument/2006/relationships/notesSlide" Target="/ppt/notesSlides/notesSlide3.xml" Id="R715ad49e46dd46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e3db7b64c4495a" /><Relationship Type="http://schemas.openxmlformats.org/officeDocument/2006/relationships/notesSlide" Target="/ppt/notesSlides/notesSlide4.xml" Id="Re24439c88c554b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41cb7ed5b545d2" /><Relationship Type="http://schemas.openxmlformats.org/officeDocument/2006/relationships/notesSlide" Target="/ppt/notesSlides/notesSlide5.xml" Id="Rbf06d380cec04e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d0d0334b6a40ca" /><Relationship Type="http://schemas.openxmlformats.org/officeDocument/2006/relationships/notesSlide" Target="/ppt/notesSlides/notesSlide6.xml" Id="R50a86e37e04442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f805e7a53a4e00" /><Relationship Type="http://schemas.openxmlformats.org/officeDocument/2006/relationships/notesSlide" Target="/ppt/notesSlides/notesSlide7.xml" Id="Rac5f0e41413849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18d2f074d54393" /><Relationship Type="http://schemas.openxmlformats.org/officeDocument/2006/relationships/notesSlide" Target="/ppt/notesSlides/notesSlide8.xml" Id="R7128909c25de48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79353d50a546f0" /><Relationship Type="http://schemas.openxmlformats.org/officeDocument/2006/relationships/notesSlide" Target="/ppt/notesSlides/notesSlide9.xml" Id="Re9b1242e1c9a44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39d36621a84df1" /><Relationship Type="http://schemas.openxmlformats.org/officeDocument/2006/relationships/notesSlide" Target="/ppt/notesSlides/notesSlide10.xml" Id="R2007706b917a4f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b9fa1e5daa4e59" /><Relationship Type="http://schemas.openxmlformats.org/officeDocument/2006/relationships/notesSlide" Target="/ppt/notesSlides/notesSlide11.xml" Id="Rd0d8e18cea5c4d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edbb0ff1f44af2" /><Relationship Type="http://schemas.openxmlformats.org/officeDocument/2006/relationships/notesSlide" Target="/ppt/notesSlides/notesSlide12.xml" Id="R171c4b2be194424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574BF2-B4CB-403C-ACE8-2F2BF9F8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10657-429A-4694-BAF9-257E3186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129BF-76E6-4B6C-B258-14FA4A43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A2238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40F77-B738-437C-88F0-39A6A819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EDUPORTAL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19FE9-BD21-4EC1-B7DB-4FAC2E06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Developed and managed by Tecbunny Solutions Private Limited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22186-E9F1-4923-B1FC-AADDF09D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Project handled by Co-founder Shubham Bhisaji | shubham@tecbunny.com | +91 7387375651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911B8-6609-444E-85D1-F607BF45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524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AI + edge operating system for Indian schools.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1D26C-7A99-4C86-86C9-4F12F150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 cloud platform plus classroom hardware layer that connects administrators, teachers, students, AI assessment, compliance, and offline-ready EduOS devices.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D054B-0A9C-43A8-93CE-7F12C158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2286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72BE68-0A40-49EE-80D5-AFB6FE25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₹1 Cr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4AA80-65CE-4DA5-BB7E-D9374820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864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Seed 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9ADCC-F6DA-4FB4-90E0-BD98D270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531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18-month pilot + GTM runway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8990B7-2177-439C-9979-D52F7C44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76800"/>
            <a:ext cx="26860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A01F5F-A608-462D-8032-79C7586F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04825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₹100 Cr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8D98F-576D-4776-A4F0-A2851461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4864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Market opportunity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399061-D573-4EAE-98CC-D7EB2795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7531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Initial India school OS wedge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A1D6E-8AE0-434E-838C-9691CF85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76800"/>
            <a:ext cx="2667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604025-0C49-470C-A0F8-2D82C46B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482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2 devices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DF1011-9512-4C77-9B18-75BBF050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864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EduOS edge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9A6F7D-1FE1-4987-AAD7-3EE1F378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75310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Student Hub + Class Station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8000B8-20D6-4D88-9BE5-CF8F19DC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066800"/>
            <a:ext cx="2190750" cy="4381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2D4D7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9AF20C-66AA-4A4A-863E-88913652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192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Cloud Admin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2B6F6D-DB17-4EEE-95D8-61093214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7170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A2238"/>
          </a:solidFill>
          <a:ln xmlns:a="http://schemas.openxmlformats.org/drawingml/2006/main" w="9525">
            <a:solidFill>
              <a:srgbClr val="60A5F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3EBB24-472A-4444-A1E5-6A1808D0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479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ERP + compliance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C1B2BE-6B8F-4ED9-AFF7-6742F299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670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616655-2DE3-4785-99AA-BB0FE0D8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766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Class Station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2226C8-4B38-4F4F-9FA7-184A75C0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290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A2238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D4A3DD-78AB-43E8-AF03-C0EE28B1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052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camera + cache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AA856B-98DC-4C84-B63F-76FC9A2A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053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AE159F-4DD6-4F10-9F0E-8CEB75C7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149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Student Hub</a:t>
            </a:r>
          </a:p>
        </p:txBody>
      </p:sp>
    </p:spTree>
    <p:extLst>
      <p:ext uri="{BB962C8B-B14F-4D97-AF65-F5344CB8AC3E}">
        <p14:creationId xmlns:p14="http://schemas.microsoft.com/office/powerpoint/2010/main" val="4191767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532150-7A9E-4A6C-82DF-C403BBEC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4CCD3-45B7-4DD7-9271-BF420DDE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794F8-87DE-4942-BD73-859E6BC7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99C28-E9A2-4555-99D5-37ACFBF2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MARKET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14974-4CD7-4D8B-853A-94076347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India’s school system is enormous; the operating layer is still fragmented.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9E18A-B57A-4540-B015-8BB89739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Developed and managed by Tecbunny Solutions Private Limited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AF996-0023-4417-9B99-6F008DB9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53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9B81A-F81B-4C80-82A6-65853B92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75A288-C459-4B63-A234-811D9D40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14.72L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17B10-1951-4386-8D79-6073D890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Schools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B6AAF-968A-4054-980A-15D2D740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UDISE+ 2023-24 national system scale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02FE76-C4B8-43F4-B278-D1EB8947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42878-3392-4A8C-85C3-FF789850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812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24.8 Cr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9ABEC-D060-4375-9F7A-DA18DF42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193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Students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05C38A-4C4E-487F-9140-A92540E0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Daily learning and attendance records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522C33-54BB-468C-B59E-367C9515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C71BFA-CD9B-4DB4-A725-93A5D0C6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812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98L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7C12F2-0903-467D-A11A-C613DAB6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193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Teachers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1D0B26-517D-4C58-B026-440513F0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Frontline users of classroom workflow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7CE575-8856-4255-88E1-99C306F9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76400"/>
            <a:ext cx="2381250" cy="38481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3A5B67-9563-415F-B30B-99F51227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Digitization gap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B44080-C961-4D9E-AF8F-8B5351EE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289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Computer access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32F38C-21B3-488E-9AA1-74CF3410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956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773C8D-D27F-4BE1-84D1-4953C9B1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95600"/>
            <a:ext cx="990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8EAC7E-8C9A-46F0-A7B7-96C6DD36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8194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64.7%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879DD9-018E-4933-BB76-86320836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432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Electricity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47E77C-2833-4970-8597-FA96A08C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0995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6ECB48-2684-4C0A-9886-7739A3B8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09950"/>
            <a:ext cx="1428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6A60CD-2823-4C45-B223-5F48AA2D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333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93.6%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67B5D2-D6F8-43A6-B35F-B9F59C04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576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Internet 23-24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C1ABE8-795F-4CB1-9781-50DA949A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24300"/>
            <a:ext cx="1524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8D6712-5E0D-4B87-A6FA-E81FB447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24300"/>
            <a:ext cx="819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49E62D-697A-4DEE-810E-A5D2AFBF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848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53.9%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27981F-F434-4E64-81C8-94A67A09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196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The opportunity is not more content apps. It is a reliable operating system that joins school administration with classroom execution.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878792-114A-454C-A09F-51DB8CBB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Sources: UDISE+ 2023-24 / PIB 2025; UDISE+ 2024-25 infrastructure update.</a:t>
            </a:r>
          </a:p>
        </p:txBody>
      </p:sp>
    </p:spTree>
    <p:extLst>
      <p:ext uri="{BB962C8B-B14F-4D97-AF65-F5344CB8AC3E}">
        <p14:creationId xmlns:p14="http://schemas.microsoft.com/office/powerpoint/2010/main" val="4139360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543985-3BF3-4577-AA3A-F5FB9E23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CA8F2-ADD4-4E4D-A933-18894C52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9604B-DDF6-4C48-8AC3-762B8A97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F7E14-0C12-4BC2-B75B-88599C60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PAIN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89CEC-6170-4E9C-9816-EE4A16F0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Schools do not lack software; they lack a connected daily operating loop.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6FC5D9-E83A-4FF7-AFB5-0B5EB98C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Developed and managed by Tecbunny Solutions Private Limited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E617C-DA6B-4D4C-AB6E-7975D667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53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15605-92E0-40EC-B2B2-6F33B7B0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247900" cy="24765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C61F4-8578-45A3-936D-3D43BE51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E0273-08FB-4767-9DC1-7D22361A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Admin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4E5BA-1FEC-4FEF-AA5E-C4715E59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E1D61-9137-4436-BCE0-999B956D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169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Admissions, compliance, config and reporting live in separate systems.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227888-2D53-4C2F-8F53-B55D29FA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2150"/>
            <a:ext cx="2247900" cy="24765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DAFB4-0DC5-4D9C-9BBC-98F343C3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71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6EEC9-17D0-44E0-BD36-5809C849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86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Teacher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54F7EA-02A6-46BB-8795-6035A7DC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F95766-DA36-4E1F-8167-B4C7324E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43300"/>
            <a:ext cx="169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Attendance, lesson material, tests and grading remain manual or app-fragmented.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BBE1C0-C525-49F3-B16A-61755923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2247900" cy="24765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E3CE3D-6AFE-43E9-8D83-2C46B92F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F7DBCE-19F6-46AC-AF0B-CA149280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86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Student device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BC65EB-E426-4015-9E79-F6D2D60C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385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C6AC44-30F4-40FD-8A95-E02E892E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43300"/>
            <a:ext cx="169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The student surface breaks when connectivity, identity, or exam lockdown matters.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32E191-C3FC-4A9A-A32A-01A29CD2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62150"/>
            <a:ext cx="2247900" cy="24765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3E9967-008C-4B6F-A821-8C9D60EB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71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BF973F-E6D8-4863-9C17-21BEC748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86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Hardware edge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3204A6-F96B-4AC6-A770-7EA0DD0C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385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E9D4FC-5778-4DD8-9E0B-80322A26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43300"/>
            <a:ext cx="169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Cameras, local cache, QR login and fleet health are usually not part of the ERP.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C78371-16DF-495C-9F07-27A1E443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863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Result: low adoption, weak data trust, and expensive manual reconciliation.</a:t>
            </a:r>
          </a:p>
        </p:txBody>
      </p:sp>
    </p:spTree>
    <p:extLst>
      <p:ext uri="{BB962C8B-B14F-4D97-AF65-F5344CB8AC3E}">
        <p14:creationId xmlns:p14="http://schemas.microsoft.com/office/powerpoint/2010/main" val="2462315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DB18B6-5225-4E0B-B102-BFB94585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888BC-180E-429E-9F24-847A4445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C13CE-5ACC-4154-87FC-635B8025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DE74F-D0E3-4E20-A7A4-F1BFE454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PRODUCT 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1F68F-0B52-495B-9919-E507F1F9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EduPortal connects cloud administration to classroom edge execution.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F048D-D35C-4D46-9302-1F2F9248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Developed and managed by Tecbunny Solutions Private Limited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99698-0580-4360-A961-6CAEB0BB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53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2A33E-F06E-4BCF-A40B-D922C6C3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60A5F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C678E6-278A-43D5-8592-A348F744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24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Cloud Control Tower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AE538-B374-44A2-9269-1197351D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1847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Admin console, school lifecycle, analytics, settings, subscriptions, requests.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D39E8-AA13-4847-A1DD-4B5BAEE2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14500"/>
            <a:ext cx="2476500" cy="2762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FB344-FD11-495E-82BA-98E83ED0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19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School Staff Hub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632A2-37F3-406A-B9A7-CFFAE850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14625"/>
            <a:ext cx="1762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Teacher AI tools, content, attendance, grading, live class monitor, support.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28949-8C68-4538-A0A0-15FF8118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47875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86EFA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72F13-9624-4F80-BEBD-F1FAD688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241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EduOS 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07BE8D-7750-4DE2-9AC9-C2ECEE1C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146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Student Hub, Class Station, QR + face login, offline cache, telemetry.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B9FA70-FFF5-466A-A116-39199E54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289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9616B2-5776-4C85-9D45-A6C931B9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818F68-F2EC-486C-81C2-CAB5CCA5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48250"/>
            <a:ext cx="3048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A2238"/>
          </a:solidFill>
          <a:ln xmlns:a="http://schemas.openxmlformats.org/drawingml/2006/main" w="9525">
            <a:solidFill>
              <a:srgbClr val="FDE68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B7A8B0-1CA9-40FD-8876-E039424A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2445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single tenant-aware data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15FC72-EA2D-4BAC-BF13-EEAD6D73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245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Supabase RLS + API routes + Edge Function + Gemini AI</a:t>
            </a:r>
          </a:p>
        </p:txBody>
      </p:sp>
    </p:spTree>
    <p:extLst>
      <p:ext uri="{BB962C8B-B14F-4D97-AF65-F5344CB8AC3E}">
        <p14:creationId xmlns:p14="http://schemas.microsoft.com/office/powerpoint/2010/main" val="11708061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F54857-5F1D-4748-985C-23B0C685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35D80-92EF-4E50-862E-D2890DF8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EF92C-3947-4327-AAC2-2AC24E43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7172A-5D9E-4A9A-8343-FF0DB849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EDUOS HARDWARE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24F1D-3798-4FF6-9738-3C131BF9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Two devices create a cleaner, safer classroom identity 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3AFED-D7E2-43A6-8DC3-CBC77F6F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Developed and managed by Tecbunny Solutions Private Limited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4F7BC-B379-4D30-AB61-7E74929A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53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89C9C-AD81-492E-BA73-F2DC1F29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3143250" cy="280987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86EFA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25E74-D2EB-4712-8A40-1A0DE68D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717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Student Hub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0FAD3-0464-4818-874B-52FCEA3E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A2238"/>
          </a:solidFill>
          <a:ln xmlns:a="http://schemas.openxmlformats.org/drawingml/2006/main" w="9525">
            <a:solidFill>
              <a:srgbClr val="86EFA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608E8-E576-44E2-9ED8-C6177F88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19400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Luckfox Pico Ultra 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6BCCB3-CEED-4767-B712-4D3D0BC9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956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No camera</a:t>
            </a:r>
          </a:p>
          <a:p xmlns:a="http://schemas.openxmlformats.org/drawingml/2006/main">
            <a:pPr algn="l">
              <a:defRPr sz="15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Displays QR session</a:t>
            </a:r>
          </a:p>
          <a:p xmlns:a="http://schemas.openxmlformats.org/drawingml/2006/main">
            <a:pPr algn="l">
              <a:defRPr sz="15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Runs locked-down PWA</a:t>
            </a:r>
          </a:p>
          <a:p xmlns:a="http://schemas.openxmlformats.org/drawingml/2006/main">
            <a:pPr algn="l">
              <a:defRPr sz="15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Sends heartbeat</a:t>
            </a:r>
          </a:p>
          <a:p xmlns:a="http://schemas.openxmlformats.org/drawingml/2006/main">
            <a:pPr algn="l">
              <a:defRPr sz="15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Loads offline shell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0CD108-4461-4A9C-A8DF-4C717AB0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85950"/>
            <a:ext cx="3143250" cy="280987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7DEADF-F9AC-4FF8-8CD0-F69C6FA6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717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Class Station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19C09-33A6-4F87-90A1-8F026319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43200"/>
            <a:ext cx="1885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A2238"/>
          </a:solidFill>
          <a:ln xmlns:a="http://schemas.openxmlformats.org/drawingml/2006/main" w="9525">
            <a:solidFill>
              <a:srgbClr val="67E8F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C80D31-6423-4CBF-B2BB-FA06FF39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194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Luckfox Pico Ultra BW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FCB48-4E8D-4C35-A20D-347211B9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956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Has camera</a:t>
            </a:r>
          </a:p>
          <a:p xmlns:a="http://schemas.openxmlformats.org/drawingml/2006/main">
            <a:pPr algn="l">
              <a:defRPr sz="15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Scans student face</a:t>
            </a:r>
          </a:p>
          <a:p xmlns:a="http://schemas.openxmlformats.org/drawingml/2006/main">
            <a:pPr algn="l">
              <a:defRPr sz="15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Scans Student Hub QR</a:t>
            </a:r>
          </a:p>
          <a:p xmlns:a="http://schemas.openxmlformats.org/drawingml/2006/main">
            <a:pPr algn="l">
              <a:defRPr sz="15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Runs local cache</a:t>
            </a:r>
          </a:p>
          <a:p xmlns:a="http://schemas.openxmlformats.org/drawingml/2006/main">
            <a:pPr algn="l">
              <a:defRPr sz="15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Triggers AI workflows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57D17C-65D3-42C7-844D-4184404C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43250"/>
            <a:ext cx="419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C7F57E-DD35-4166-91AB-1908E17B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24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Face scan + QR scan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BDD059-D229-4FA7-B22B-5D21B1B1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2197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Student privacy improves because cameras are centralized on the classroom station, not every student desk.</a:t>
            </a:r>
          </a:p>
        </p:txBody>
      </p:sp>
    </p:spTree>
    <p:extLst>
      <p:ext uri="{BB962C8B-B14F-4D97-AF65-F5344CB8AC3E}">
        <p14:creationId xmlns:p14="http://schemas.microsoft.com/office/powerpoint/2010/main" val="186226925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D6079E-AEA8-4B95-A16D-60245EA4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89792-9C20-4195-8452-760AEEA1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5E816-2747-4B4A-8ABB-289E7D22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A9556-1FB2-49DB-97D2-C3D3B602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PLATFORM MODULES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62AA0-43AB-4444-908F-11880277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feature set is broad because the daily school workflow is broad.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442EA-1030-4327-A46D-57ACFE8D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Developed and managed by Tecbunny Solutions Private Limited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0301C-E43E-446C-8625-7E1B9D91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53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C50E9-D4A8-432E-8C12-3F9FEB45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223A5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A345C-8B70-4D5D-9A30-FDF67383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F62FE-AF8B-45E7-9836-704FF1EA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7335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School onboarding, registrations, subscriptions, config, analytics, fleet visibility.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44FBAA-6C3D-4874-89D8-574C3C36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F"/>
          </a:solidFill>
          <a:ln xmlns:a="http://schemas.openxmlformats.org/drawingml/2006/main" w="9525">
            <a:solidFill>
              <a:srgbClr val="223A5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78A7F-FBCD-48CF-AC60-97AEC2EC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Principal/HOD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0B7CF-7C85-4D42-8BF9-E2117536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193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Attendance policy, staff creation, promotions, compliance snapshots, operations.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C10BEA-FBDB-40F2-919F-46B20022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223A5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6423B-32FC-478E-9183-0E46F1CD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Teacher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1CEC25-90DB-4845-B937-18E8C650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051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AI paper generation, worksheet OCR, split-screen grading, live monitor, class analytics.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2C2F5-E0A5-472B-888F-D7CDF137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F"/>
          </a:solidFill>
          <a:ln xmlns:a="http://schemas.openxmlformats.org/drawingml/2006/main" w="9525">
            <a:solidFill>
              <a:srgbClr val="223A5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28AF36-8EBE-4879-901B-DF3A6DFD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Student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B3AB11-7FBA-4E45-A53C-0678AFA5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909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Locked PWA desk, live tests, study hub, HPC viewer, offline-first materials.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F18260-523B-48DF-8146-00F7655C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223A5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1AEBC1-D397-412C-9149-B9509CCD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DBA7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DBA74"/>
                </a:solidFill>
                <a:latin typeface="Aptos"/>
                <a:ea typeface="Aptos"/>
                <a:cs typeface="Aptos"/>
              </a:rPr>
              <a:t>Auditor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30526F-CFB3-41D6-8B42-3132AE95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767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Compliance health map, report generation, engagement and HPC analytics.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0E273D-0B6C-4D52-9C4A-27348B8A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F"/>
          </a:solidFill>
          <a:ln xmlns:a="http://schemas.openxmlformats.org/drawingml/2006/main" w="9525">
            <a:solidFill>
              <a:srgbClr val="223A5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89A918-E3DF-44F0-B8A8-0D2E00C0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625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CA5A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CA5A5"/>
                </a:solidFill>
                <a:latin typeface="Aptos"/>
                <a:ea typeface="Aptos"/>
                <a:cs typeface="Aptos"/>
              </a:rPr>
              <a:t>Hardware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C242B0-4889-44A1-AC62-C2C4911B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6255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Handshake, telemetry, update checks, QR sessions, node secrets, EduOS image payload.</a:t>
            </a:r>
          </a:p>
        </p:txBody>
      </p:sp>
    </p:spTree>
    <p:extLst>
      <p:ext uri="{BB962C8B-B14F-4D97-AF65-F5344CB8AC3E}">
        <p14:creationId xmlns:p14="http://schemas.microsoft.com/office/powerpoint/2010/main" val="6780608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EFA1FA-FFDB-4B36-AD1D-3B67F5EE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5AB62-CDF0-4C5D-B04C-ED5F4CDD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705D46-C661-459A-A76B-B3CD4983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038CD-6071-4B66-A8F0-D3010365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WORKFLOW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6BB7E-4CD6-43CC-835B-B897C61F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One classroom loop turns attendance, learning and assessment into usable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64554-B698-4FB7-BAF7-B7276898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Developed and managed by Tecbunny Solutions Private Limited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01B2C-1AA7-4CEF-A74E-575CA9E5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53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43733-5BB4-46E1-98E6-362A1BB4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857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C5D4C-BE13-4656-ACEA-71443894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6403A4-EA2A-4D81-B62E-730C53AA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9621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Student Hub shows QR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78176-2580-4BD6-A231-FA248575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574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No camera on student desk.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BD7252-10C0-4D97-84C3-DA0DF85E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3840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F72EF-8895-49CB-BE14-B4B5E812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2857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C6415-51EF-4DBD-B2E4-7227FF7F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812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EE2CCA-8116-49F2-A987-7836CB53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621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Class Station scans face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786CC2-B60C-4692-970B-868EC655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574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Camera verifies identity at station.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334A6-28F5-4DB0-9112-DC3E8E37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3840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1D2769-AB32-4A49-AB05-A74B9674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2857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37310B-5046-4B8F-9F0D-E679B03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812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226E7D-41A5-4AF6-8BDE-7C83DAEB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621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Station scans QR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FFD724-4A82-4766-A4D3-1FB524F4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574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Session bound to student + device.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DD7614-1268-4442-9C78-27CAA7B5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2857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E67E97-B986-4D92-9D2E-9A5AD6FB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FEFFFD-5C7F-41E3-91C2-04BD3CBD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57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Teacher runs class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D93C04-079C-4F50-A185-0BA10006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Live monitor + push controls.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F84257-89D6-43D9-A061-FB9947C9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3390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A5B4B2-C9E3-40CA-942D-FB12DD5E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2857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295ACC-A1B6-416E-9373-3AA20F79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767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B5B206-AAB4-485A-91EF-9CF21393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57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AI grades work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7AE6B6-E906-4F07-89AD-1E9776F0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5529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OCR + rubric-based suggestions.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6A6AC1-04BB-41DE-A31C-1932FE90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33900"/>
            <a:ext cx="64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32CC28-B945-415B-9A38-9E5F24B4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05250"/>
            <a:ext cx="2857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AB0A7F-5393-4565-B09A-8F28B877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767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962AE5-EB72-4225-812B-8E25FEB0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57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HPC/compliance updates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6275B6-CD57-44AE-9CBF-ABBB5CB6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529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Progress and audit records compound.</a:t>
            </a:r>
          </a:p>
        </p:txBody>
      </p:sp>
    </p:spTree>
    <p:extLst>
      <p:ext uri="{BB962C8B-B14F-4D97-AF65-F5344CB8AC3E}">
        <p14:creationId xmlns:p14="http://schemas.microsoft.com/office/powerpoint/2010/main" val="116132839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128C40-E9A8-4018-B858-E3B3F997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8AFA7-B876-411D-A311-A54AF139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E3A47-D4F7-444D-AC82-4CCD14AB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5AE13-C4EF-4808-8F04-3C600E31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MARKET OPPORTUNITY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831A0-CA53-4222-ACB3-358E6B01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 ₹100 Cr opportunity is a tiny wedge in a very large education digitization market.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2EE67-DB6E-4D6F-AD27-E5D4054C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Developed and managed by Tecbunny Solutions Private Limited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5B0CA-5155-494C-A6C0-8C928053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53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02AD8-6DFA-4C07-A728-7D0C6C6F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A5C0E-69B4-485D-A54C-01FDE6AE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$6.6B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138F5-C41A-4C09-A26A-D0FD1B58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India edtech 2024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37F4C-CA4F-4659-9B23-7D0EDF78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Grand View Research estimate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86713-59A8-456F-8A59-5BDA17FF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573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6C06AC-8739-4508-89B6-9FCF4340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288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$17.0B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FB48A-BBC4-43CC-A1D5-C9620BA7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69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India edtech 2030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EB2A6-B9C3-4D8F-8CBF-9571426B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336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Projected 16.9% CAGR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F8B96-FE35-4DEA-801F-F5F9404D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573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E93C3-7108-4A8C-8D2E-2F0DFADE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288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K-12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19A2ED-C978-4FA7-9925-E8E72880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Largest segment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9CC0C8-1CFE-45E3-8DDC-2FF907CA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India edtech revenue segment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5D83B5-2A90-4FFE-BE29-BA6DDAB3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2381250" cy="40957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5A456C-85C0-4312-BC5A-1D0A73BB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52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₹100 Cr wedge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59B15F-FF22-4BA8-84FC-1D2FC289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81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1,000 schools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7BC226-4920-4B81-A184-FC68670B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2428875"/>
            <a:ext cx="1123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C77136-252A-490E-90CF-5393FCBB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2428875"/>
            <a:ext cx="22479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94D89B-225E-4CB4-887D-AF2145D4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3525" y="236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1000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B9C878-19BE-4199-BF60-3B02BE0B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051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₹1L ARR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D46A5D-3C62-4988-B097-D849AC3B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2952750"/>
            <a:ext cx="1123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38238B-8ECA-4B7E-96B6-F4FA85B3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2952750"/>
            <a:ext cx="22479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4F4682-2527-485D-8F5E-F0E64BDC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3525" y="28860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100000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6E26C1-2E8E-4A6B-86CB-1315B866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19500"/>
            <a:ext cx="166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1,000 schools × ₹1 lakh annual platform/hardware/AI revenue = ₹100 Cr ARR potential.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B26526-AAD6-4F0D-89D0-5FDF3982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2440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This equals less than 0.1% of India’s 14.72 lakh schools.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AB1F81-4888-4F34-9A65-24E2BDD3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Sources: UDISE+ 2023-24 / PIB; Grand View Research India education technology outlook 2025-2030.</a:t>
            </a:r>
          </a:p>
        </p:txBody>
      </p:sp>
    </p:spTree>
    <p:extLst>
      <p:ext uri="{BB962C8B-B14F-4D97-AF65-F5344CB8AC3E}">
        <p14:creationId xmlns:p14="http://schemas.microsoft.com/office/powerpoint/2010/main" val="117671279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43B749-5CAC-487A-B0C7-F4BE5771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3E0F9-B9EA-4587-9E4B-BF112842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BF489-BDCA-43B8-AD15-036E7442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B32BB-32EB-4CC5-BC23-63D6DB4C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BUSINESS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F52D4-244D-459D-B998-789B3511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Revenue stacks software, edge hardware, and AI usage into one school OS contract.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E6D17-A2D2-4D31-BC78-8A51F619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Developed and managed by Tecbunny Solutions Private Limited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B1651-60F9-42E5-88F6-1F77DB39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53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54B82-255C-4766-80A2-CA09C426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5810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C6448-0DB2-4B1B-BA93-6EE3EEA6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716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Platform SaaS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CE69E-334D-41B7-B702-20FB7B37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716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₹30k-₹80k / school / year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A0D27-D761-4528-A52B-A58A4E4E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Core ERP, dashboards, compliance, role portals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9DB70-B38C-425A-ABFA-90309B8A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5810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E4319-C736-467B-A17B-34098779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EduOS hardware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1221F-279B-4962-B28F-9E0A8E6A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479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₹20k-₹1.5L / classroom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E43E3E-7228-4EC0-9D87-5BB91825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479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Student Hubs + Class Station kits; margin or leasing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881377-BC19-409D-AE0C-5B79AD95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5810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596BBC-FFA3-4EF9-B592-09BB984E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242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AI credits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8D6827-7FB3-4B8E-96A6-55EF82DC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242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usage-based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70DD02-3797-46D4-9A62-C2A7B3E9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24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OCR, grading, assessment generation, compliance reports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E98A3B-F2BB-43BD-975D-D0944713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5810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9A9B4A-C7D9-45C7-AF47-39C36CD8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005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DBA7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DBA74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319245-94FA-486F-9E3A-3BAAB685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005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onboarding + training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085EEF-1E50-48EF-BAEC-35B4CB1F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00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Data migration, device install, school workflows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61851F-DC53-48BE-B76F-51AED4DB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38300"/>
            <a:ext cx="3143250" cy="32385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390133-7262-40AB-9F19-987161F2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43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Illustrative economics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8723B4-2ADA-40CE-B5E9-269922B7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Base SaaS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9C8505-DF02-4CA2-98F9-D1675081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19375"/>
            <a:ext cx="1219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2AA2E6-779D-4464-87CB-B9C41B76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19375"/>
            <a:ext cx="522514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47FD62-46C0-4038-A64D-CB698805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255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8B311D-53ED-429C-BEBF-6904ECA4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48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AI usage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5FCDFA-DBF7-4A4C-9E3A-BC5EACF2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95625"/>
            <a:ext cx="1219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21A1E2-438A-4C39-9AAB-F036631E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95625"/>
            <a:ext cx="217714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60DCBF-F2E4-4A1D-851A-71E9A497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30289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5EC1A3-C516-4551-B7D5-9D8CA91E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24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Hardware amort.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720A0F-C73F-4FCB-8853-BDAF9A22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71875"/>
            <a:ext cx="1219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533939-0382-407A-AA14-A5AAA779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71875"/>
            <a:ext cx="478971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C31176-0B9C-4E9E-9CB3-05C2C4DB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3505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55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E2B60E-F2DC-4F3D-9D27-D5CAC29F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481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Target blended annual revenue per active school: ₹1L+ as hardware and AI attach grow.</a:t>
            </a:r>
          </a:p>
        </p:txBody>
      </p:sp>
    </p:spTree>
    <p:extLst>
      <p:ext uri="{BB962C8B-B14F-4D97-AF65-F5344CB8AC3E}">
        <p14:creationId xmlns:p14="http://schemas.microsoft.com/office/powerpoint/2010/main" val="107744038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4D7F18-5B25-42E0-B567-B73AAD52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F106A-1280-411D-A0DA-1DC5EEA8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3ED6A-417C-4406-AC86-1D638E7E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D2067-3477-4189-82FD-54258693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GTM 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2D756-FBF3-4A4F-BC18-316A580C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Go-to-market starts with dense pilots, then expands through clusters.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2A21E-9DEB-4302-953A-D7EF94F8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Developed and managed by Tecbunny Solutions Private Limited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EE4AE-6CBF-4880-86B3-67A4527C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53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9BEB3-E4E9-4D3C-9613-EF110EB3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2238375" cy="23812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56CEB5-AF7E-4B3D-A47D-D3B6EAA9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6CEF5-FEB0-49F6-A546-7134C73D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9560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5-10 schools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16102-26D9-4F59-9766-7B87B0C5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DBB58-6FD4-4D1B-A5BF-064024CF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766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Prove daily usage, device reliability, teacher workflows.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F577F5-F47B-4F1D-BA80-0987D196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47875"/>
            <a:ext cx="2238375" cy="23812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AAAD64-EDCA-417C-8213-3BF5E588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241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Cluster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45F00-D596-483E-8B2F-9F979B03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9560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50 schools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6A724A-4F96-4AA6-A026-BA8C0B12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718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FB31AC-3B1F-45B9-A32F-CE2AD85D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766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Sell through local school groups, districts, trusts, operators.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AEF479-FA42-4512-BA10-2B9D6611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47875"/>
            <a:ext cx="2238375" cy="23812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58CC90-F4DD-4C15-9629-586E4CE9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State/Network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BF7410-CAE4-4099-B104-A22DC56B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9560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250+ schools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6A74E1-4863-441B-9388-4C0F6B0C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D55935-6546-4511-A595-444C8A0E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766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Standardize onboarding, procurement, training, support.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A21793-70CE-44FB-A8E9-A46356D1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47875"/>
            <a:ext cx="2238375" cy="23812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0B3374-5D88-47E8-A4E3-8A4D861A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241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DBA7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DBA74"/>
                </a:solidFill>
                <a:latin typeface="Aptos"/>
                <a:ea typeface="Aptos"/>
                <a:cs typeface="Aptos"/>
              </a:rPr>
              <a:t>Platform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0E8A18-E9F0-43E9-BB51-17326619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9560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1,000 schools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D96996-A646-4387-8C6F-66B44F31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718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FCFE28-B20A-4D7E-8F16-D9C7C522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766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Attach AI credits, hardware refresh, compliance products.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0630BE-9902-4764-ACF3-5197061E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435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Target entry wedge: private schools and progressive school networks that already feel ERP pain but need edge execution.</a:t>
            </a:r>
          </a:p>
        </p:txBody>
      </p:sp>
    </p:spTree>
    <p:extLst>
      <p:ext uri="{BB962C8B-B14F-4D97-AF65-F5344CB8AC3E}">
        <p14:creationId xmlns:p14="http://schemas.microsoft.com/office/powerpoint/2010/main" val="178426671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106425-44E1-4F2A-AA0A-FD32AA9C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45379-6F60-4E63-BBA7-BC52CED1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795B1-7CE6-4BF3-B3F5-BC3D60D3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DF2CB-CAC7-4B57-B022-4AC86D25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INVESTMENT 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7F240-2E85-426B-8E55-0220B265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₹1 Cr funds an 18-month path from product to paid school pilots.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07C99-1419-470C-9763-AF501E23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Developed and managed by Tecbunny Solutions Private Limited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5F6FD-0039-4B90-8524-CA217D8E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53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31101-CB73-4FD7-84B7-EBB370AB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4953000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5696E-CB8A-4367-BA38-7EDFA3F8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621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Use of funds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C9032-0E87-4F1E-8A47-F394712D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Product + engineering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A550BA-07A6-41B2-B0DA-391836F8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19375"/>
            <a:ext cx="200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05336-BC8E-48A6-9570-90E85723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19375"/>
            <a:ext cx="70008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7117F-17D4-41D7-A846-C03057D7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5527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293929-C058-4A2D-B616-7D20D312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956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Hardware pilots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497044-7489-4DD2-8BA3-391FA721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43250"/>
            <a:ext cx="200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03708-131A-4346-8501-6B2D866A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43250"/>
            <a:ext cx="50006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5A3A99-4978-4522-B386-1ABA5E85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076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947C60-E0BD-44BD-9F97-FBC8CF5D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Sales + onboarding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8E490E-3A48-40CD-8706-62FA585B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67125"/>
            <a:ext cx="200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FB89FC-5A5A-488F-A662-350C3D81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67125"/>
            <a:ext cx="400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B1B179-0482-4C2E-A1E5-A622A453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600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13C3A3-B529-4614-B3DE-13F63EC8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433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Cloud + AI infra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C01804-1017-4A06-8160-4781A768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91000"/>
            <a:ext cx="200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21D927-D48D-4E67-8848-F80D96C9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91000"/>
            <a:ext cx="24003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6256A9-5E98-4979-893C-34FA7127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1243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DBA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DBA7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22141B-BB42-4144-A3E1-54D17A09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Compliance + ops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B5833B-0DA7-4BA5-890B-0BE35330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14875"/>
            <a:ext cx="200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3C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EA5B30-568A-443F-8190-AA000D20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14875"/>
            <a:ext cx="16002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5A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E463D3-A993-4C6F-B444-ACCC8AA9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648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CA5A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CA5A5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A626E5-95C5-44CA-AEC7-5A88924C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4191000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101F35"/>
          </a:solidFill>
          <a:ln xmlns:a="http://schemas.openxmlformats.org/drawingml/2006/main" w="9525">
            <a:solidFill>
              <a:srgbClr val="27415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330FDC-E8D3-4418-9239-05B37FD3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62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Milestones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5B9B25-A727-43BF-8846-C0342CE9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71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0-3 months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4DCEA9-B62E-417B-B695-ED3E5099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Close hardware identity, pilot image, install playbook.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4FF44B-9B00-47D2-9FF5-CAD8999F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33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4-9 months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55A700-A624-4BA4-9D8D-15BA1FCB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5-10 school pilots, teacher workflow proof, AI usage data.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A9FBBA-4A41-4E5B-B097-B5295162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95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10-18 months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7509D7-5935-487C-8F87-E79C5311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Convert pilots, reach 50 schools pipeline, prepare institutional round.</a:t>
            </a:r>
          </a:p>
        </p:txBody>
      </p:sp>
    </p:spTree>
    <p:extLst>
      <p:ext uri="{BB962C8B-B14F-4D97-AF65-F5344CB8AC3E}">
        <p14:creationId xmlns:p14="http://schemas.microsoft.com/office/powerpoint/2010/main" val="141667685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43608D-315C-4C95-B64F-EA568A3B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BB6A0-391E-40DD-9C8C-1C079DAD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5CD07-18AF-4939-A069-FDD34D7C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36A86-942B-443E-B506-8EB6E66E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CLOSING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8EC33-0DE7-459E-A9CB-597F1FFD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EduPortal is asking for ₹1 Cr to prove the school OS category from the classroom outward.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44655-AF3A-4435-9F95-4570F4CC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Developed and managed by Tecbunny Solutions Private Limited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26AA4-59C4-432C-93A1-36ADCE16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531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D2C3C-72E4-46C1-8440-A2444C85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FDE68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6784B-A87D-4573-BC29-8A4BA366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33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The 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6EC8C-BBDB-49CF-9C5C-B5D0AF6F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2890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₹1 Cr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827D8-ED1D-43B5-A8AD-118DB3D7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Build the pilot hardware + product + GTM engine required to reach paid school deployments.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E280C-CEE5-4F28-957E-AF10010F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71650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213A"/>
          </a:solidFill>
          <a:ln xmlns:a="http://schemas.openxmlformats.org/drawingml/2006/main" w="9525">
            <a:solidFill>
              <a:srgbClr val="86EFA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C949A9-9C73-4CAC-9A24-4F494693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33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The prize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898940-28C3-4E42-9A41-5C618A11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289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₹100 Cr+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295E9-737A-4488-815C-B6412315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290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 narrow wedge: 1,000 schools at ₹1L+ blended annual revenue, with upside from AI and hardware attach.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554F5A-11EA-411B-B009-C66E4CF5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482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EduPortal ecosystem owner: Tecbunny Solutions Private Limited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E4C45-9A95-49D0-8DDD-1946C147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Project handled by Co-founder Shubham Bhisaji | shubham@tecbunny.com | +91 7387375651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FC04E5-684C-4389-A75B-8B65D23A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Sources used: UDISE+ 2023-24 / PIB; UDISE+ 2024-25 PIB update; Grand View Research India education technology outlook; EduPortal repo docs and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4829473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2026-05-01T12:34:24.2020000Z</dcterms:created>
  <dcterms:modified xsi:type="dcterms:W3CDTF">2026-05-01T12:34:24.2020000Z</dcterms:modified>
</coreProperties>
</file>